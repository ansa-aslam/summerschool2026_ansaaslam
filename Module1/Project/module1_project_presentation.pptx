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64" r:id="rId8"/>
    <p:sldId id="259" r:id="rId9"/>
    <p:sldId id="260" r:id="rId10"/>
    <p:sldId id="261" r:id="rId11"/>
    <p:sldId id="262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1" Type="http://schemas.openxmlformats.org/officeDocument/2006/relationships/notesSlide" Target="../notesSlides/notesSlide2.xml"/><Relationship Id="rId20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0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9" Type="http://schemas.openxmlformats.org/officeDocument/2006/relationships/notesSlide" Target="../notesSlides/notesSlide4.xml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37.xml"/><Relationship Id="rId16" Type="http://schemas.openxmlformats.org/officeDocument/2006/relationships/tags" Target="../tags/tag36.xml"/><Relationship Id="rId15" Type="http://schemas.openxmlformats.org/officeDocument/2006/relationships/tags" Target="../tags/tag35.xml"/><Relationship Id="rId14" Type="http://schemas.openxmlformats.org/officeDocument/2006/relationships/tags" Target="../tags/tag34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tags" Target="../tags/tag2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46.xml"/><Relationship Id="rId8" Type="http://schemas.openxmlformats.org/officeDocument/2006/relationships/tags" Target="../tags/tag45.xml"/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9" Type="http://schemas.openxmlformats.org/officeDocument/2006/relationships/notesSlide" Target="../notesSlides/notesSlide5.xml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54.xml"/><Relationship Id="rId16" Type="http://schemas.openxmlformats.org/officeDocument/2006/relationships/tags" Target="../tags/tag53.xml"/><Relationship Id="rId15" Type="http://schemas.openxmlformats.org/officeDocument/2006/relationships/tags" Target="../tags/tag52.xml"/><Relationship Id="rId14" Type="http://schemas.openxmlformats.org/officeDocument/2006/relationships/tags" Target="../tags/tag51.xml"/><Relationship Id="rId13" Type="http://schemas.openxmlformats.org/officeDocument/2006/relationships/tags" Target="../tags/tag50.xml"/><Relationship Id="rId12" Type="http://schemas.openxmlformats.org/officeDocument/2006/relationships/tags" Target="../tags/tag49.xml"/><Relationship Id="rId11" Type="http://schemas.openxmlformats.org/officeDocument/2006/relationships/tags" Target="../tags/tag48.xml"/><Relationship Id="rId10" Type="http://schemas.openxmlformats.org/officeDocument/2006/relationships/tags" Target="../tags/tag47.xml"/><Relationship Id="rId1" Type="http://schemas.openxmlformats.org/officeDocument/2006/relationships/tags" Target="../tags/tag38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60.xml"/><Relationship Id="rId7" Type="http://schemas.openxmlformats.org/officeDocument/2006/relationships/tags" Target="../tags/tag59.xml"/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image" Target="../media/image2.png"/><Relationship Id="rId3" Type="http://schemas.openxmlformats.org/officeDocument/2006/relationships/tags" Target="../tags/tag56.xml"/><Relationship Id="rId2" Type="http://schemas.openxmlformats.org/officeDocument/2006/relationships/image" Target="../media/image1.png"/><Relationship Id="rId10" Type="http://schemas.openxmlformats.org/officeDocument/2006/relationships/notesSlide" Target="../notesSlides/notesSlide6.xml"/><Relationship Id="rId1" Type="http://schemas.openxmlformats.org/officeDocument/2006/relationships/tags" Target="../tags/tag55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66.xml"/><Relationship Id="rId7" Type="http://schemas.openxmlformats.org/officeDocument/2006/relationships/tags" Target="../tags/tag65.xml"/><Relationship Id="rId6" Type="http://schemas.openxmlformats.org/officeDocument/2006/relationships/tags" Target="../tags/tag64.xml"/><Relationship Id="rId5" Type="http://schemas.openxmlformats.org/officeDocument/2006/relationships/tags" Target="../tags/tag63.xml"/><Relationship Id="rId4" Type="http://schemas.openxmlformats.org/officeDocument/2006/relationships/image" Target="../media/image4.png"/><Relationship Id="rId3" Type="http://schemas.openxmlformats.org/officeDocument/2006/relationships/tags" Target="../tags/tag62.xml"/><Relationship Id="rId2" Type="http://schemas.openxmlformats.org/officeDocument/2006/relationships/image" Target="../media/image3.png"/><Relationship Id="rId10" Type="http://schemas.openxmlformats.org/officeDocument/2006/relationships/notesSlide" Target="../notesSlides/notesSlide7.xml"/><Relationship Id="rId1" Type="http://schemas.openxmlformats.org/officeDocument/2006/relationships/tags" Target="../tags/tag6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708025" y="125603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5FBD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MODULE 1 - PROJECT</a:t>
            </a:r>
            <a:endParaRPr lang="en-US" sz="2400" b="1" kern="0" spc="300" dirty="0">
              <a:solidFill>
                <a:srgbClr val="5FBDB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08025" y="1616075"/>
            <a:ext cx="8778240" cy="1920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Control vs. Treated: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Tracing a Gene Expression Response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765175" y="3374390"/>
            <a:ext cx="80467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end-to-end </a:t>
            </a:r>
            <a:r>
              <a:rPr lang="en-US" altLang="en-GB" sz="150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Raw Files </a:t>
            </a:r>
            <a:r>
              <a:rPr lang="en-US" altLang="en-US" sz="150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r>
              <a:rPr lang="en-US" altLang="en-GB" sz="150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Bash </a:t>
            </a:r>
            <a:r>
              <a:rPr lang="en-US" altLang="en-US" sz="150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r>
              <a:rPr lang="en-US" altLang="en-GB" sz="150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Python </a:t>
            </a:r>
            <a:r>
              <a:rPr lang="en-US" altLang="en-US" sz="150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r>
              <a:rPr lang="en-US" altLang="en-GB" sz="150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R </a:t>
            </a:r>
            <a:r>
              <a:rPr lang="en-US" altLang="en-US" sz="150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r>
              <a:rPr lang="en-US" altLang="en-GB" sz="150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Results </a:t>
            </a:r>
            <a:r>
              <a:rPr lang="en-US" altLang="en-US" sz="150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r>
              <a:rPr lang="en-US" altLang="en-GB" sz="150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Interpretation workflow</a:t>
            </a:r>
            <a:r>
              <a:rPr lang="en-US" sz="150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, from raw sequence files to a ranked list of responding genes.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08025" y="5433060"/>
            <a:ext cx="8229600" cy="108013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u="sng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Name</a:t>
            </a:r>
            <a:r>
              <a:rPr lang="en-US" sz="20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: Ansa Aslam</a:t>
            </a:r>
            <a:endParaRPr lang="en-US" sz="20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C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Question Behind the Pipeline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5212080" cy="2377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1B1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 genes were measured across 3 control and 3 treated replicates. The goal: build a reproducible pipeline that goes from raw files to a defensible answer — which genes actually respond to treatment?</a:t>
            </a:r>
            <a:endParaRPr lang="en-US" sz="1600" dirty="0">
              <a:solidFill>
                <a:srgbClr val="1B1B1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3850005"/>
            <a:ext cx="5212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Guiding question</a:t>
            </a:r>
            <a:endParaRPr lang="en-US" sz="2000" b="1" dirty="0">
              <a:solidFill>
                <a:srgbClr val="1C7293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4215765"/>
            <a:ext cx="5212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4325493"/>
            <a:ext cx="475488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B25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“How does the treatment affect gene expression compared with the control condition, and which genes respond the most?”</a:t>
            </a:r>
            <a:endParaRPr lang="en-US" sz="1400" i="1" dirty="0">
              <a:solidFill>
                <a:srgbClr val="0B2545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7" name="Shape 5"/>
          <p:cNvSpPr/>
          <p:nvPr>
            <p:custDataLst>
              <p:tags r:id="rId1"/>
            </p:custDataLst>
          </p:nvPr>
        </p:nvSpPr>
        <p:spPr>
          <a:xfrm>
            <a:off x="6172200" y="1703070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blurRad="76200" dist="25400" dir="5400000" algn="bl" rotWithShape="0">
              <a:srgbClr val="1B1B1B">
                <a:alpha val="12000"/>
              </a:srgbClr>
            </a:outerShdw>
          </a:effectLst>
        </p:spPr>
      </p:sp>
      <p:sp>
        <p:nvSpPr>
          <p:cNvPr id="8" name="Shape 6"/>
          <p:cNvSpPr/>
          <p:nvPr>
            <p:custDataLst>
              <p:tags r:id="rId2"/>
            </p:custDataLst>
          </p:nvPr>
        </p:nvSpPr>
        <p:spPr>
          <a:xfrm>
            <a:off x="6400800" y="1931670"/>
            <a:ext cx="731520" cy="731520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9" name="Text 7"/>
          <p:cNvSpPr/>
          <p:nvPr>
            <p:custDataLst>
              <p:tags r:id="rId3"/>
            </p:custDataLst>
          </p:nvPr>
        </p:nvSpPr>
        <p:spPr>
          <a:xfrm>
            <a:off x="6400800" y="1931670"/>
            <a:ext cx="7315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>
            <p:custDataLst>
              <p:tags r:id="rId4"/>
            </p:custDataLst>
          </p:nvPr>
        </p:nvSpPr>
        <p:spPr>
          <a:xfrm>
            <a:off x="7360920" y="1867662"/>
            <a:ext cx="4114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Linux / Bash</a:t>
            </a:r>
            <a:endParaRPr lang="en-US" sz="1500" dirty="0"/>
          </a:p>
        </p:txBody>
      </p:sp>
      <p:sp>
        <p:nvSpPr>
          <p:cNvPr id="11" name="Text 9"/>
          <p:cNvSpPr/>
          <p:nvPr>
            <p:custDataLst>
              <p:tags r:id="rId5"/>
            </p:custDataLst>
          </p:nvPr>
        </p:nvSpPr>
        <p:spPr>
          <a:xfrm>
            <a:off x="7360920" y="2233295"/>
            <a:ext cx="38887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Organize project folders, stage raw data, log input summary</a:t>
            </a:r>
            <a:endParaRPr lang="en-US" sz="1400" dirty="0">
              <a:solidFill>
                <a:srgbClr val="5B677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2" name="Text 10"/>
          <p:cNvSpPr/>
          <p:nvPr>
            <p:custDataLst>
              <p:tags r:id="rId6"/>
            </p:custDataLst>
          </p:nvPr>
        </p:nvSpPr>
        <p:spPr>
          <a:xfrm>
            <a:off x="8778240" y="287350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AB6BF"/>
                </a:solidFill>
                <a:sym typeface="+mn-ea"/>
              </a:rPr>
              <a:t>↓</a:t>
            </a:r>
            <a:endParaRPr lang="en-US" sz="1600" dirty="0"/>
          </a:p>
        </p:txBody>
      </p:sp>
      <p:sp>
        <p:nvSpPr>
          <p:cNvPr id="13" name="Shape 11"/>
          <p:cNvSpPr/>
          <p:nvPr>
            <p:custDataLst>
              <p:tags r:id="rId7"/>
            </p:custDataLst>
          </p:nvPr>
        </p:nvSpPr>
        <p:spPr>
          <a:xfrm>
            <a:off x="6172200" y="3120390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blurRad="76200" dist="25400" dir="5400000" algn="bl" rotWithShape="0">
              <a:srgbClr val="1B1B1B">
                <a:alpha val="12000"/>
              </a:srgbClr>
            </a:outerShdw>
          </a:effectLst>
        </p:spPr>
      </p:sp>
      <p:sp>
        <p:nvSpPr>
          <p:cNvPr id="14" name="Shape 12"/>
          <p:cNvSpPr/>
          <p:nvPr>
            <p:custDataLst>
              <p:tags r:id="rId8"/>
            </p:custDataLst>
          </p:nvPr>
        </p:nvSpPr>
        <p:spPr>
          <a:xfrm>
            <a:off x="6400800" y="3348990"/>
            <a:ext cx="731520" cy="73152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15" name="Text 13"/>
          <p:cNvSpPr/>
          <p:nvPr>
            <p:custDataLst>
              <p:tags r:id="rId9"/>
            </p:custDataLst>
          </p:nvPr>
        </p:nvSpPr>
        <p:spPr>
          <a:xfrm>
            <a:off x="6400800" y="3348990"/>
            <a:ext cx="7315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Text 14"/>
          <p:cNvSpPr/>
          <p:nvPr>
            <p:custDataLst>
              <p:tags r:id="rId10"/>
            </p:custDataLst>
          </p:nvPr>
        </p:nvSpPr>
        <p:spPr>
          <a:xfrm>
            <a:off x="7360920" y="3284982"/>
            <a:ext cx="4114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500" dirty="0"/>
          </a:p>
        </p:txBody>
      </p:sp>
      <p:sp>
        <p:nvSpPr>
          <p:cNvPr id="17" name="Text 15"/>
          <p:cNvSpPr/>
          <p:nvPr>
            <p:custDataLst>
              <p:tags r:id="rId11"/>
            </p:custDataLst>
          </p:nvPr>
        </p:nvSpPr>
        <p:spPr>
          <a:xfrm>
            <a:off x="7360920" y="3650742"/>
            <a:ext cx="41605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Parse FASTA / FASTQ / GFF3 / VCF into clean summary tables</a:t>
            </a:r>
            <a:endParaRPr lang="en-US" sz="1400" dirty="0">
              <a:solidFill>
                <a:srgbClr val="5B677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8" name="Text 16"/>
          <p:cNvSpPr/>
          <p:nvPr>
            <p:custDataLst>
              <p:tags r:id="rId12"/>
            </p:custDataLst>
          </p:nvPr>
        </p:nvSpPr>
        <p:spPr>
          <a:xfrm>
            <a:off x="8778240" y="429082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AB6BF"/>
                </a:solidFill>
              </a:rPr>
              <a:t>↓</a:t>
            </a:r>
            <a:endParaRPr lang="en-US" sz="1600" dirty="0"/>
          </a:p>
        </p:txBody>
      </p:sp>
      <p:sp>
        <p:nvSpPr>
          <p:cNvPr id="19" name="Shape 17"/>
          <p:cNvSpPr/>
          <p:nvPr>
            <p:custDataLst>
              <p:tags r:id="rId13"/>
            </p:custDataLst>
          </p:nvPr>
        </p:nvSpPr>
        <p:spPr>
          <a:xfrm>
            <a:off x="6172200" y="4537710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blurRad="76200" dist="25400" dir="5400000" algn="bl" rotWithShape="0">
              <a:srgbClr val="1B1B1B">
                <a:alpha val="12000"/>
              </a:srgbClr>
            </a:outerShdw>
          </a:effectLst>
        </p:spPr>
      </p:sp>
      <p:sp>
        <p:nvSpPr>
          <p:cNvPr id="20" name="Shape 18"/>
          <p:cNvSpPr/>
          <p:nvPr>
            <p:custDataLst>
              <p:tags r:id="rId14"/>
            </p:custDataLst>
          </p:nvPr>
        </p:nvSpPr>
        <p:spPr>
          <a:xfrm>
            <a:off x="6400800" y="4766310"/>
            <a:ext cx="731520" cy="731520"/>
          </a:xfrm>
          <a:prstGeom prst="ellipse">
            <a:avLst/>
          </a:prstGeom>
          <a:solidFill>
            <a:srgbClr val="5FBDB0"/>
          </a:solidFill>
        </p:spPr>
      </p:sp>
      <p:sp>
        <p:nvSpPr>
          <p:cNvPr id="21" name="Text 19"/>
          <p:cNvSpPr/>
          <p:nvPr>
            <p:custDataLst>
              <p:tags r:id="rId15"/>
            </p:custDataLst>
          </p:nvPr>
        </p:nvSpPr>
        <p:spPr>
          <a:xfrm>
            <a:off x="6400800" y="4766310"/>
            <a:ext cx="7315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03</a:t>
            </a:r>
            <a:endParaRPr lang="en-US" sz="2000" dirty="0"/>
          </a:p>
        </p:txBody>
      </p:sp>
      <p:sp>
        <p:nvSpPr>
          <p:cNvPr id="22" name="Text 20"/>
          <p:cNvSpPr/>
          <p:nvPr>
            <p:custDataLst>
              <p:tags r:id="rId16"/>
            </p:custDataLst>
          </p:nvPr>
        </p:nvSpPr>
        <p:spPr>
          <a:xfrm>
            <a:off x="7360920" y="4702302"/>
            <a:ext cx="4114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 (tidyverse + ggplot2)</a:t>
            </a:r>
            <a:endParaRPr lang="en-US" sz="1500" dirty="0"/>
          </a:p>
        </p:txBody>
      </p:sp>
      <p:sp>
        <p:nvSpPr>
          <p:cNvPr id="23" name="Text 21"/>
          <p:cNvSpPr/>
          <p:nvPr>
            <p:custDataLst>
              <p:tags r:id="rId17"/>
            </p:custDataLst>
          </p:nvPr>
        </p:nvSpPr>
        <p:spPr>
          <a:xfrm>
            <a:off x="7360920" y="5068062"/>
            <a:ext cx="41605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Reshape, join, summarise, compute log2FC, visualize</a:t>
            </a:r>
            <a:endParaRPr lang="en-US" sz="1400" dirty="0">
              <a:solidFill>
                <a:srgbClr val="5B677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000" dirty="0"/>
          </a:p>
        </p:txBody>
      </p:sp>
      <p:sp>
        <p:nvSpPr>
          <p:cNvPr id="25" name="Shape 5"/>
          <p:cNvSpPr/>
          <p:nvPr>
            <p:custDataLst>
              <p:tags r:id="rId18"/>
            </p:custDataLst>
          </p:nvPr>
        </p:nvSpPr>
        <p:spPr>
          <a:xfrm>
            <a:off x="6172200" y="908685"/>
            <a:ext cx="5541645" cy="574675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blurRad="76200" dist="25400" dir="5400000" algn="bl" rotWithShape="0">
              <a:srgbClr val="1B1B1B">
                <a:alpha val="12000"/>
              </a:srgbClr>
            </a:outerShdw>
          </a:effectLst>
        </p:spPr>
        <p:txBody>
          <a:bodyPr/>
          <a:p>
            <a:endParaRPr lang="en-GB" altLang="en-US"/>
          </a:p>
        </p:txBody>
      </p:sp>
      <p:sp>
        <p:nvSpPr>
          <p:cNvPr id="27" name="Text 7"/>
          <p:cNvSpPr/>
          <p:nvPr/>
        </p:nvSpPr>
        <p:spPr>
          <a:xfrm>
            <a:off x="6299200" y="651510"/>
            <a:ext cx="7315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28" name="Text 8"/>
          <p:cNvSpPr/>
          <p:nvPr>
            <p:custDataLst>
              <p:tags r:id="rId19"/>
            </p:custDataLst>
          </p:nvPr>
        </p:nvSpPr>
        <p:spPr>
          <a:xfrm>
            <a:off x="6784340" y="1025017"/>
            <a:ext cx="4114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Raw Files</a:t>
            </a:r>
            <a:endParaRPr lang="en-US" sz="1600" b="1" dirty="0">
              <a:solidFill>
                <a:srgbClr val="0B254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0" name="Shape 5"/>
          <p:cNvSpPr/>
          <p:nvPr/>
        </p:nvSpPr>
        <p:spPr>
          <a:xfrm>
            <a:off x="6071235" y="5955030"/>
            <a:ext cx="5541645" cy="574675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blurRad="76200" dist="25400" dir="5400000" algn="bl" rotWithShape="0">
              <a:srgbClr val="1B1B1B">
                <a:alpha val="12000"/>
              </a:srgbClr>
            </a:outerShdw>
          </a:effectLst>
        </p:spPr>
      </p:sp>
      <p:sp>
        <p:nvSpPr>
          <p:cNvPr id="31" name="Text 7"/>
          <p:cNvSpPr/>
          <p:nvPr/>
        </p:nvSpPr>
        <p:spPr>
          <a:xfrm>
            <a:off x="6198235" y="5697855"/>
            <a:ext cx="7315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32" name="Text 8"/>
          <p:cNvSpPr/>
          <p:nvPr/>
        </p:nvSpPr>
        <p:spPr>
          <a:xfrm>
            <a:off x="6929755" y="6091047"/>
            <a:ext cx="4114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Biological Interpretation</a:t>
            </a:r>
            <a:endParaRPr lang="en-US" sz="1500" dirty="0"/>
          </a:p>
        </p:txBody>
      </p:sp>
      <p:sp>
        <p:nvSpPr>
          <p:cNvPr id="36" name="Text Box 35"/>
          <p:cNvSpPr txBox="1"/>
          <p:nvPr/>
        </p:nvSpPr>
        <p:spPr>
          <a:xfrm>
            <a:off x="8778240" y="1438910"/>
            <a:ext cx="6096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1600" dirty="0">
                <a:solidFill>
                  <a:srgbClr val="AAB6BF"/>
                </a:solidFill>
                <a:sym typeface="+mn-ea"/>
              </a:rPr>
              <a:t>↓</a:t>
            </a:r>
            <a:endParaRPr lang="en-US" altLang="en-US" sz="1600" dirty="0">
              <a:solidFill>
                <a:srgbClr val="AAB6BF"/>
              </a:solidFill>
              <a:sym typeface="+mn-ea"/>
            </a:endParaRPr>
          </a:p>
        </p:txBody>
      </p:sp>
      <p:sp>
        <p:nvSpPr>
          <p:cNvPr id="37" name="Text Box 36"/>
          <p:cNvSpPr txBox="1"/>
          <p:nvPr/>
        </p:nvSpPr>
        <p:spPr>
          <a:xfrm>
            <a:off x="8778240" y="5662295"/>
            <a:ext cx="6096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1600" dirty="0">
                <a:solidFill>
                  <a:srgbClr val="AAB6BF"/>
                </a:solidFill>
                <a:sym typeface="+mn-ea"/>
              </a:rPr>
              <a:t>↓</a:t>
            </a:r>
            <a:endParaRPr lang="en-US" altLang="en-US" sz="1600" dirty="0">
              <a:solidFill>
                <a:srgbClr val="AAB6BF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2"/>
          <p:cNvSpPr/>
          <p:nvPr>
            <p:custDataLst>
              <p:tags r:id="rId1"/>
            </p:custDataLst>
          </p:nvPr>
        </p:nvSpPr>
        <p:spPr>
          <a:xfrm>
            <a:off x="2019300" y="2593975"/>
            <a:ext cx="7308850" cy="3604895"/>
          </a:xfrm>
          <a:prstGeom prst="roundRect">
            <a:avLst>
              <a:gd name="adj" fmla="val 28113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DCE3E8"/>
            </a:solidFill>
            <a:prstDash val="solid"/>
          </a:ln>
          <a:effectLst>
            <a:outerShdw blurRad="76200" dist="25400" dir="5400000" algn="bl" rotWithShape="0">
              <a:srgbClr val="1B1B1B">
                <a:alpha val="10000"/>
              </a:srgbClr>
            </a:outerShdw>
          </a:effectLst>
        </p:spPr>
        <p:txBody>
          <a:bodyPr/>
          <a:p>
            <a:endParaRPr lang="en-GB" altLang="en-US"/>
          </a:p>
        </p:txBody>
      </p:sp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Step 1:  Setting up a reproducible project structure</a:t>
            </a:r>
            <a:endParaRPr lang="en-US" sz="3000" b="1" dirty="0">
              <a:solidFill>
                <a:srgbClr val="0B2545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468120"/>
            <a:ext cx="110642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With Linux /Bash script </a:t>
            </a:r>
            <a:r>
              <a:rPr lang="en-US" b="1" u="sng" dirty="0">
                <a:solidFill>
                  <a:schemeClr val="tx2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“set.sh”</a:t>
            </a:r>
            <a:r>
              <a:rPr lang="en-US" dirty="0">
                <a:solidFill>
                  <a:schemeClr val="tx2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, I c</a:t>
            </a:r>
            <a:r>
              <a:rPr lang="en-US" altLang="en-GB" dirty="0">
                <a:solidFill>
                  <a:schemeClr val="tx2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reated a clean project structure with folders for raw data, scripts, results, and figures.</a:t>
            </a:r>
            <a:r>
              <a:rPr lang="en-US" dirty="0">
                <a:solidFill>
                  <a:schemeClr val="tx2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I then copied files into the /Module1/Project/raw directory (genes.fasta, sample_reads.fastq, annotations.gff3, variants.vcf, gene_expression.csv, sample_metadata.csv) and then g</a:t>
            </a:r>
            <a:r>
              <a:rPr lang="en-US" altLang="en-GB" dirty="0">
                <a:solidFill>
                  <a:schemeClr val="tx2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enerated a summary of the input files to ensure all required datasets were available before analysis.</a:t>
            </a:r>
            <a:endParaRPr lang="en-US" dirty="0">
              <a:solidFill>
                <a:schemeClr val="tx2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000" dirty="0"/>
          </a:p>
        </p:txBody>
      </p:sp>
      <p:sp>
        <p:nvSpPr>
          <p:cNvPr id="31" name="Text Box 30"/>
          <p:cNvSpPr txBox="1"/>
          <p:nvPr/>
        </p:nvSpPr>
        <p:spPr>
          <a:xfrm>
            <a:off x="2597150" y="2955925"/>
            <a:ext cx="6096000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GB">
                <a:solidFill>
                  <a:schemeClr val="accent1"/>
                </a:solidFill>
                <a:latin typeface="Arial Black" panose="020B0A04020102020204" charset="0"/>
                <a:cs typeface="Arial Black" panose="020B0A04020102020204" charset="0"/>
              </a:rPr>
              <a:t>FOLDER STRUCTURE</a:t>
            </a:r>
            <a:endParaRPr lang="en-US" altLang="en-GB">
              <a:solidFill>
                <a:schemeClr val="accent1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endParaRPr lang="en-US" altLang="en-GB"/>
          </a:p>
          <a:p>
            <a:r>
              <a:rPr lang="en-US" altLang="en-GB">
                <a:latin typeface="Leelawadee UI Semilight" panose="020B0402040204020203" charset="0"/>
                <a:cs typeface="Leelawadee UI Semilight" panose="020B0402040204020203" charset="0"/>
              </a:rPr>
              <a:t>Project/</a:t>
            </a:r>
            <a:endParaRPr lang="en-US" altLang="en-GB">
              <a:latin typeface="Leelawadee UI Semilight" panose="020B0402040204020203" charset="0"/>
              <a:cs typeface="Leelawadee UI Semilight" panose="020B0402040204020203" charset="0"/>
            </a:endParaRPr>
          </a:p>
          <a:p>
            <a:r>
              <a:rPr lang="en-US" altLang="en-US">
                <a:latin typeface="Leelawadee UI Semilight" panose="020B0402040204020203" charset="0"/>
                <a:cs typeface="Leelawadee UI Semilight" panose="020B0402040204020203" charset="0"/>
              </a:rPr>
              <a:t>├──</a:t>
            </a:r>
            <a:r>
              <a:rPr lang="en-US" altLang="en-GB">
                <a:latin typeface="Leelawadee UI Semilight" panose="020B0402040204020203" charset="0"/>
                <a:cs typeface="Leelawadee UI Semilight" panose="020B0402040204020203" charset="0"/>
              </a:rPr>
              <a:t> raw/          # raw/unedited input files (copied here by set.sh, never edited)</a:t>
            </a:r>
            <a:endParaRPr lang="en-US" altLang="en-GB">
              <a:latin typeface="Leelawadee UI Semilight" panose="020B0402040204020203" charset="0"/>
              <a:cs typeface="Leelawadee UI Semilight" panose="020B0402040204020203" charset="0"/>
            </a:endParaRPr>
          </a:p>
          <a:p>
            <a:r>
              <a:rPr lang="en-US" altLang="en-US">
                <a:latin typeface="Leelawadee UI Semilight" panose="020B0402040204020203" charset="0"/>
                <a:cs typeface="Leelawadee UI Semilight" panose="020B0402040204020203" charset="0"/>
              </a:rPr>
              <a:t>├──</a:t>
            </a:r>
            <a:r>
              <a:rPr lang="en-US" altLang="en-GB">
                <a:latin typeface="Leelawadee UI Semilight" panose="020B0402040204020203" charset="0"/>
                <a:cs typeface="Leelawadee UI Semilight" panose="020B0402040204020203" charset="0"/>
              </a:rPr>
              <a:t> scripts/      # set.sh, parse.py, analysis.R</a:t>
            </a:r>
            <a:endParaRPr lang="en-US" altLang="en-GB">
              <a:latin typeface="Leelawadee UI Semilight" panose="020B0402040204020203" charset="0"/>
              <a:cs typeface="Leelawadee UI Semilight" panose="020B0402040204020203" charset="0"/>
            </a:endParaRPr>
          </a:p>
          <a:p>
            <a:r>
              <a:rPr lang="en-US" altLang="en-US">
                <a:latin typeface="Leelawadee UI Semilight" panose="020B0402040204020203" charset="0"/>
                <a:cs typeface="Leelawadee UI Semilight" panose="020B0402040204020203" charset="0"/>
              </a:rPr>
              <a:t>├──</a:t>
            </a:r>
            <a:r>
              <a:rPr lang="en-US" altLang="en-GB">
                <a:latin typeface="Leelawadee UI Semilight" panose="020B0402040204020203" charset="0"/>
                <a:cs typeface="Leelawadee UI Semilight" panose="020B0402040204020203" charset="0"/>
              </a:rPr>
              <a:t> results/      # summary tables produced by parse.py + analysis.R</a:t>
            </a:r>
            <a:endParaRPr lang="en-US" altLang="en-GB">
              <a:latin typeface="Leelawadee UI Semilight" panose="020B0402040204020203" charset="0"/>
              <a:cs typeface="Leelawadee UI Semilight" panose="020B0402040204020203" charset="0"/>
            </a:endParaRPr>
          </a:p>
          <a:p>
            <a:r>
              <a:rPr lang="en-US" altLang="en-US">
                <a:latin typeface="Leelawadee UI Semilight" panose="020B0402040204020203" charset="0"/>
                <a:cs typeface="Leelawadee UI Semilight" panose="020B0402040204020203" charset="0"/>
              </a:rPr>
              <a:t>├──</a:t>
            </a:r>
            <a:r>
              <a:rPr lang="en-US" altLang="en-GB">
                <a:latin typeface="Leelawadee UI Semilight" panose="020B0402040204020203" charset="0"/>
                <a:cs typeface="Leelawadee UI Semilight" panose="020B0402040204020203" charset="0"/>
              </a:rPr>
              <a:t> figures/      # the 4 ggplot2 figures, saved at 300 dpi</a:t>
            </a:r>
            <a:endParaRPr lang="en-US" altLang="en-GB">
              <a:latin typeface="Leelawadee UI Semilight" panose="020B0402040204020203" charset="0"/>
              <a:cs typeface="Leelawadee UI Semilight" panose="020B0402040204020203" charset="0"/>
            </a:endParaRPr>
          </a:p>
          <a:p>
            <a:r>
              <a:rPr lang="en-US" altLang="en-US">
                <a:latin typeface="Leelawadee UI Semilight" panose="020B0402040204020203" charset="0"/>
                <a:cs typeface="Leelawadee UI Semilight" panose="020B0402040204020203" charset="0"/>
              </a:rPr>
              <a:t>└──</a:t>
            </a:r>
            <a:r>
              <a:rPr lang="en-US" altLang="en-GB">
                <a:latin typeface="Leelawadee UI Semilight" panose="020B0402040204020203" charset="0"/>
                <a:cs typeface="Leelawadee UI Semilight" panose="020B0402040204020203" charset="0"/>
              </a:rPr>
              <a:t> README.md  </a:t>
            </a:r>
            <a:r>
              <a:rPr lang="en-US" altLang="en-GB"/>
              <a:t>   </a:t>
            </a:r>
            <a:endParaRPr lang="en-GB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2"/>
          <p:cNvSpPr/>
          <p:nvPr>
            <p:custDataLst>
              <p:tags r:id="rId1"/>
            </p:custDataLst>
          </p:nvPr>
        </p:nvSpPr>
        <p:spPr>
          <a:xfrm>
            <a:off x="1645285" y="2004695"/>
            <a:ext cx="8075930" cy="1710690"/>
          </a:xfrm>
          <a:prstGeom prst="roundRect">
            <a:avLst>
              <a:gd name="adj" fmla="val 28113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DCE3E8"/>
            </a:solidFill>
            <a:prstDash val="solid"/>
          </a:ln>
          <a:effectLst>
            <a:outerShdw blurRad="76200" dist="25400" dir="5400000" algn="bl" rotWithShape="0">
              <a:srgbClr val="1B1B1B">
                <a:alpha val="10000"/>
              </a:srgbClr>
            </a:outerShdw>
          </a:effectLst>
        </p:spPr>
        <p:txBody>
          <a:bodyPr/>
          <a:p>
            <a:endParaRPr lang="en-GB" altLang="en-US"/>
          </a:p>
        </p:txBody>
      </p:sp>
      <p:sp>
        <p:nvSpPr>
          <p:cNvPr id="28" name="Shape 2"/>
          <p:cNvSpPr/>
          <p:nvPr>
            <p:custDataLst>
              <p:tags r:id="rId2"/>
            </p:custDataLst>
          </p:nvPr>
        </p:nvSpPr>
        <p:spPr>
          <a:xfrm>
            <a:off x="9266555" y="4011295"/>
            <a:ext cx="2494915" cy="2240280"/>
          </a:xfrm>
          <a:prstGeom prst="roundRect">
            <a:avLst>
              <a:gd name="adj" fmla="val 28113"/>
            </a:avLst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rgbClr val="DCE3E8"/>
            </a:solidFill>
            <a:prstDash val="solid"/>
          </a:ln>
          <a:effectLst>
            <a:outerShdw blurRad="76200" dist="25400" dir="5400000" algn="bl" rotWithShape="0">
              <a:srgbClr val="1B1B1B">
                <a:alpha val="10000"/>
              </a:srgbClr>
            </a:outerShdw>
          </a:effectLst>
        </p:spPr>
        <p:txBody>
          <a:bodyPr/>
          <a:p>
            <a:endParaRPr lang="en-GB" altLang="en-US"/>
          </a:p>
        </p:txBody>
      </p:sp>
      <p:sp>
        <p:nvSpPr>
          <p:cNvPr id="27" name="Shape 2"/>
          <p:cNvSpPr/>
          <p:nvPr>
            <p:custDataLst>
              <p:tags r:id="rId3"/>
            </p:custDataLst>
          </p:nvPr>
        </p:nvSpPr>
        <p:spPr>
          <a:xfrm>
            <a:off x="6386195" y="4011295"/>
            <a:ext cx="2494915" cy="2240280"/>
          </a:xfrm>
          <a:prstGeom prst="roundRect">
            <a:avLst>
              <a:gd name="adj" fmla="val 28113"/>
            </a:avLst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DCE3E8"/>
            </a:solidFill>
            <a:prstDash val="solid"/>
          </a:ln>
          <a:effectLst>
            <a:outerShdw blurRad="76200" dist="25400" dir="5400000" algn="bl" rotWithShape="0">
              <a:srgbClr val="1B1B1B">
                <a:alpha val="10000"/>
              </a:srgbClr>
            </a:outerShdw>
          </a:effectLst>
        </p:spPr>
        <p:txBody>
          <a:bodyPr/>
          <a:p>
            <a:endParaRPr lang="en-GB" altLang="en-US"/>
          </a:p>
        </p:txBody>
      </p:sp>
      <p:sp>
        <p:nvSpPr>
          <p:cNvPr id="26" name="Shape 2"/>
          <p:cNvSpPr/>
          <p:nvPr>
            <p:custDataLst>
              <p:tags r:id="rId4"/>
            </p:custDataLst>
          </p:nvPr>
        </p:nvSpPr>
        <p:spPr>
          <a:xfrm>
            <a:off x="3505835" y="4011295"/>
            <a:ext cx="2494915" cy="2240280"/>
          </a:xfrm>
          <a:prstGeom prst="roundRect">
            <a:avLst>
              <a:gd name="adj" fmla="val 28113"/>
            </a:avLst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rgbClr val="DCE3E8"/>
            </a:solidFill>
            <a:prstDash val="solid"/>
          </a:ln>
          <a:effectLst>
            <a:outerShdw blurRad="76200" dist="25400" dir="5400000" algn="bl" rotWithShape="0">
              <a:srgbClr val="1B1B1B">
                <a:alpha val="10000"/>
              </a:srgbClr>
            </a:outerShdw>
          </a:effectLst>
        </p:spPr>
        <p:txBody>
          <a:bodyPr/>
          <a:p>
            <a:endParaRPr lang="en-GB" altLang="en-US"/>
          </a:p>
        </p:txBody>
      </p:sp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Step 2: Parsing the Raw Files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1276985"/>
            <a:ext cx="110642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 Python then parsed each supporting file into a summary table saved under results/.</a:t>
            </a:r>
            <a:endParaRPr lang="en-US" dirty="0">
              <a:solidFill>
                <a:schemeClr val="tx2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4" name="Shape 2"/>
          <p:cNvSpPr/>
          <p:nvPr>
            <p:custDataLst>
              <p:tags r:id="rId5"/>
            </p:custDataLst>
          </p:nvPr>
        </p:nvSpPr>
        <p:spPr>
          <a:xfrm>
            <a:off x="625475" y="4011295"/>
            <a:ext cx="2494915" cy="2240280"/>
          </a:xfrm>
          <a:prstGeom prst="roundRect">
            <a:avLst>
              <a:gd name="adj" fmla="val 28113"/>
            </a:avLst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rgbClr val="DCE3E8"/>
            </a:solidFill>
            <a:prstDash val="solid"/>
          </a:ln>
          <a:effectLst>
            <a:outerShdw blurRad="76200" dist="25400" dir="5400000" algn="bl" rotWithShape="0">
              <a:srgbClr val="1B1B1B">
                <a:alpha val="10000"/>
              </a:srgbClr>
            </a:outerShdw>
          </a:effectLst>
        </p:spPr>
        <p:txBody>
          <a:bodyPr/>
          <a:p>
            <a:endParaRPr lang="en-GB" altLang="en-US"/>
          </a:p>
        </p:txBody>
      </p:sp>
      <p:sp>
        <p:nvSpPr>
          <p:cNvPr id="6" name="Text 4"/>
          <p:cNvSpPr/>
          <p:nvPr>
            <p:custDataLst>
              <p:tags r:id="rId6"/>
            </p:custDataLst>
          </p:nvPr>
        </p:nvSpPr>
        <p:spPr>
          <a:xfrm>
            <a:off x="625475" y="4215130"/>
            <a:ext cx="2494915" cy="6788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8</a:t>
            </a:r>
            <a:endParaRPr lang="en-US" sz="4000" b="1" dirty="0">
              <a:solidFill>
                <a:schemeClr val="tx1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7" name="Text 5"/>
          <p:cNvSpPr/>
          <p:nvPr>
            <p:custDataLst>
              <p:tags r:id="rId7"/>
            </p:custDataLst>
          </p:nvPr>
        </p:nvSpPr>
        <p:spPr>
          <a:xfrm>
            <a:off x="794385" y="4916805"/>
            <a:ext cx="2151380" cy="4756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sequences in genes.fasta</a:t>
            </a:r>
            <a:endParaRPr lang="en-US" sz="1600" b="1" dirty="0">
              <a:solidFill>
                <a:srgbClr val="0B254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" name="Text 6"/>
          <p:cNvSpPr/>
          <p:nvPr>
            <p:custDataLst>
              <p:tags r:id="rId8"/>
            </p:custDataLst>
          </p:nvPr>
        </p:nvSpPr>
        <p:spPr>
          <a:xfrm>
            <a:off x="786130" y="5503545"/>
            <a:ext cx="2151380" cy="6108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avg. GC content 51.5%</a:t>
            </a:r>
            <a:endParaRPr lang="en-US" sz="160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1" name="Text 9"/>
          <p:cNvSpPr/>
          <p:nvPr>
            <p:custDataLst>
              <p:tags r:id="rId9"/>
            </p:custDataLst>
          </p:nvPr>
        </p:nvSpPr>
        <p:spPr>
          <a:xfrm>
            <a:off x="3505835" y="4215130"/>
            <a:ext cx="2494915" cy="6788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2,000</a:t>
            </a:r>
            <a:endParaRPr lang="en-US" sz="4000" b="1" dirty="0"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12" name="Text 10"/>
          <p:cNvSpPr/>
          <p:nvPr>
            <p:custDataLst>
              <p:tags r:id="rId10"/>
            </p:custDataLst>
          </p:nvPr>
        </p:nvSpPr>
        <p:spPr>
          <a:xfrm>
            <a:off x="3497580" y="4893945"/>
            <a:ext cx="2511425" cy="4756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reads in sample_reads.fastq</a:t>
            </a:r>
            <a:endParaRPr lang="en-US" sz="1600" b="1" dirty="0">
              <a:solidFill>
                <a:srgbClr val="0B254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Text 11"/>
          <p:cNvSpPr/>
          <p:nvPr>
            <p:custDataLst>
              <p:tags r:id="rId11"/>
            </p:custDataLst>
          </p:nvPr>
        </p:nvSpPr>
        <p:spPr>
          <a:xfrm>
            <a:off x="3666490" y="5503545"/>
            <a:ext cx="2151380" cy="6108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mean Phred quality 29.9 — 1,711 passed QC (85.6%)</a:t>
            </a:r>
            <a:endParaRPr lang="en-US" sz="1400" dirty="0">
              <a:solidFill>
                <a:srgbClr val="5B677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6" name="Text 14"/>
          <p:cNvSpPr/>
          <p:nvPr>
            <p:custDataLst>
              <p:tags r:id="rId12"/>
            </p:custDataLst>
          </p:nvPr>
        </p:nvSpPr>
        <p:spPr>
          <a:xfrm>
            <a:off x="6386195" y="4215130"/>
            <a:ext cx="2494915" cy="6788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32</a:t>
            </a:r>
            <a:endParaRPr lang="en-US" sz="4000" b="1" dirty="0"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17" name="Text 15"/>
          <p:cNvSpPr/>
          <p:nvPr>
            <p:custDataLst>
              <p:tags r:id="rId13"/>
            </p:custDataLst>
          </p:nvPr>
        </p:nvSpPr>
        <p:spPr>
          <a:xfrm>
            <a:off x="6464935" y="4916805"/>
            <a:ext cx="2344420" cy="4756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annotated features (GFF3)</a:t>
            </a:r>
            <a:endParaRPr lang="en-US" sz="1600" b="1" dirty="0">
              <a:solidFill>
                <a:srgbClr val="0B254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8" name="Text 16"/>
          <p:cNvSpPr/>
          <p:nvPr>
            <p:custDataLst>
              <p:tags r:id="rId14"/>
            </p:custDataLst>
          </p:nvPr>
        </p:nvSpPr>
        <p:spPr>
          <a:xfrm>
            <a:off x="6546850" y="5503545"/>
            <a:ext cx="2151380" cy="6108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 gene, 8 mRNA, 16 exon records</a:t>
            </a:r>
            <a:endParaRPr lang="en-US" sz="1400" dirty="0">
              <a:solidFill>
                <a:srgbClr val="5B677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1" name="Text 19"/>
          <p:cNvSpPr/>
          <p:nvPr>
            <p:custDataLst>
              <p:tags r:id="rId15"/>
            </p:custDataLst>
          </p:nvPr>
        </p:nvSpPr>
        <p:spPr>
          <a:xfrm>
            <a:off x="9266555" y="4215130"/>
            <a:ext cx="2494915" cy="6788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20</a:t>
            </a:r>
            <a:endParaRPr lang="en-US" sz="4000" b="1" dirty="0"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22" name="Text 20"/>
          <p:cNvSpPr/>
          <p:nvPr>
            <p:custDataLst>
              <p:tags r:id="rId16"/>
            </p:custDataLst>
          </p:nvPr>
        </p:nvSpPr>
        <p:spPr>
          <a:xfrm>
            <a:off x="9435465" y="4916805"/>
            <a:ext cx="2151380" cy="4756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variants called (VCF)</a:t>
            </a:r>
            <a:endParaRPr lang="en-US" sz="1600" b="1" dirty="0">
              <a:solidFill>
                <a:srgbClr val="0B254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3" name="Text 21"/>
          <p:cNvSpPr/>
          <p:nvPr>
            <p:custDataLst>
              <p:tags r:id="rId17"/>
            </p:custDataLst>
          </p:nvPr>
        </p:nvSpPr>
        <p:spPr>
          <a:xfrm>
            <a:off x="9427210" y="5503545"/>
            <a:ext cx="2151380" cy="6108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variant record per gene, on average</a:t>
            </a:r>
            <a:endParaRPr lang="en-US" sz="1400" dirty="0">
              <a:solidFill>
                <a:srgbClr val="5B677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748790" y="2550160"/>
            <a:ext cx="11064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script</a:t>
            </a:r>
            <a:r>
              <a:rPr lang="en-US" altLang="en-GB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“scripts/parse.py”</a:t>
            </a:r>
            <a:r>
              <a:rPr lang="en-US" alt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— goes through the four supporting files one at a time:</a:t>
            </a:r>
            <a:endParaRPr lang="en-US" altLang="en-GB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alt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 FASTA </a:t>
            </a:r>
            <a:r>
              <a:rPr lang="en-US" alt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r>
              <a:rPr lang="en-US" alt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counts sequences and computes average GC%</a:t>
            </a:r>
            <a:endParaRPr lang="en-US" altLang="en-GB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alt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 FASTQ </a:t>
            </a:r>
            <a:r>
              <a:rPr lang="en-US" alt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r>
              <a:rPr lang="en-US" alt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counts reads, mean Phred quality, and how many reads pass Q30</a:t>
            </a:r>
            <a:endParaRPr lang="en-US" altLang="en-GB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alt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 GFF3 </a:t>
            </a:r>
            <a:r>
              <a:rPr lang="en-US" alt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r>
              <a:rPr lang="en-US" alt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counts each feature type (gene/mRNA/exon)</a:t>
            </a:r>
            <a:endParaRPr lang="en-US" altLang="en-GB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alt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 VCF </a:t>
            </a:r>
            <a:r>
              <a:rPr lang="en-US" alt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r>
              <a:rPr lang="en-US" alt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counts variant records</a:t>
            </a:r>
            <a:endParaRPr lang="en-US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Text Box 8"/>
          <p:cNvSpPr txBox="1"/>
          <p:nvPr/>
        </p:nvSpPr>
        <p:spPr>
          <a:xfrm>
            <a:off x="737235" y="6454775"/>
            <a:ext cx="1053655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1600" i="1"/>
              <a:t>Summary: Python extracted useful information from the biological sequence and annotation files.</a:t>
            </a:r>
            <a:endParaRPr lang="en-US" altLang="en-GB" sz="1600" i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Step 3–4: Wrangling the Expression Matrix in 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20370" y="2021205"/>
            <a:ext cx="5120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Pipeline</a:t>
            </a:r>
            <a:endParaRPr lang="en-US" b="1" dirty="0">
              <a:solidFill>
                <a:srgbClr val="1C7293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420370" y="2565527"/>
            <a:ext cx="237744" cy="237744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5" name="Text 3"/>
          <p:cNvSpPr/>
          <p:nvPr>
            <p:custDataLst>
              <p:tags r:id="rId2"/>
            </p:custDataLst>
          </p:nvPr>
        </p:nvSpPr>
        <p:spPr>
          <a:xfrm>
            <a:off x="420370" y="2565527"/>
            <a:ext cx="237744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786130" y="2432685"/>
            <a:ext cx="52146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1B1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read_csv() — import expression matrix + sample metadata</a:t>
            </a:r>
            <a:endParaRPr lang="en-US" sz="1600" dirty="0">
              <a:solidFill>
                <a:srgbClr val="1B1B1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" name="Shape 5"/>
          <p:cNvSpPr/>
          <p:nvPr>
            <p:custDataLst>
              <p:tags r:id="rId4"/>
            </p:custDataLst>
          </p:nvPr>
        </p:nvSpPr>
        <p:spPr>
          <a:xfrm>
            <a:off x="420370" y="3132455"/>
            <a:ext cx="237744" cy="237744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8" name="Text 6"/>
          <p:cNvSpPr/>
          <p:nvPr>
            <p:custDataLst>
              <p:tags r:id="rId5"/>
            </p:custDataLst>
          </p:nvPr>
        </p:nvSpPr>
        <p:spPr>
          <a:xfrm>
            <a:off x="420370" y="3132455"/>
            <a:ext cx="237744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000" dirty="0"/>
          </a:p>
        </p:txBody>
      </p:sp>
      <p:sp>
        <p:nvSpPr>
          <p:cNvPr id="9" name="Text 7"/>
          <p:cNvSpPr/>
          <p:nvPr>
            <p:custDataLst>
              <p:tags r:id="rId6"/>
            </p:custDataLst>
          </p:nvPr>
        </p:nvSpPr>
        <p:spPr>
          <a:xfrm>
            <a:off x="786130" y="2999740"/>
            <a:ext cx="530987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1B1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pivot_longer() — 20 genes × 6 samples → tidy long format</a:t>
            </a:r>
            <a:endParaRPr lang="en-US" sz="1600" dirty="0">
              <a:solidFill>
                <a:srgbClr val="1B1B1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0" name="Shape 8"/>
          <p:cNvSpPr/>
          <p:nvPr>
            <p:custDataLst>
              <p:tags r:id="rId7"/>
            </p:custDataLst>
          </p:nvPr>
        </p:nvSpPr>
        <p:spPr>
          <a:xfrm>
            <a:off x="420370" y="3699383"/>
            <a:ext cx="237744" cy="237744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11" name="Text 9"/>
          <p:cNvSpPr/>
          <p:nvPr>
            <p:custDataLst>
              <p:tags r:id="rId8"/>
            </p:custDataLst>
          </p:nvPr>
        </p:nvSpPr>
        <p:spPr>
          <a:xfrm>
            <a:off x="420370" y="3699383"/>
            <a:ext cx="237744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000" dirty="0"/>
          </a:p>
        </p:txBody>
      </p:sp>
      <p:sp>
        <p:nvSpPr>
          <p:cNvPr id="12" name="Text 10"/>
          <p:cNvSpPr/>
          <p:nvPr>
            <p:custDataLst>
              <p:tags r:id="rId9"/>
            </p:custDataLst>
          </p:nvPr>
        </p:nvSpPr>
        <p:spPr>
          <a:xfrm>
            <a:off x="786130" y="3566541"/>
            <a:ext cx="4846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1B1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left_join() on sample — attach condition, batch, RIN</a:t>
            </a:r>
            <a:endParaRPr lang="en-US" sz="1600" dirty="0">
              <a:solidFill>
                <a:srgbClr val="1B1B1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Shape 11"/>
          <p:cNvSpPr/>
          <p:nvPr>
            <p:custDataLst>
              <p:tags r:id="rId10"/>
            </p:custDataLst>
          </p:nvPr>
        </p:nvSpPr>
        <p:spPr>
          <a:xfrm>
            <a:off x="420370" y="4266311"/>
            <a:ext cx="237744" cy="237744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14" name="Text 12"/>
          <p:cNvSpPr/>
          <p:nvPr>
            <p:custDataLst>
              <p:tags r:id="rId11"/>
            </p:custDataLst>
          </p:nvPr>
        </p:nvSpPr>
        <p:spPr>
          <a:xfrm>
            <a:off x="420370" y="4266311"/>
            <a:ext cx="237744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000" dirty="0"/>
          </a:p>
        </p:txBody>
      </p:sp>
      <p:sp>
        <p:nvSpPr>
          <p:cNvPr id="15" name="Text 13"/>
          <p:cNvSpPr/>
          <p:nvPr>
            <p:custDataLst>
              <p:tags r:id="rId12"/>
            </p:custDataLst>
          </p:nvPr>
        </p:nvSpPr>
        <p:spPr>
          <a:xfrm>
            <a:off x="786130" y="4133215"/>
            <a:ext cx="5473065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1B1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group_by(gene_id, condition) + summarise() — mean &amp; SD</a:t>
            </a:r>
            <a:endParaRPr lang="en-US" sz="1600" dirty="0">
              <a:solidFill>
                <a:srgbClr val="1B1B1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6" name="Shape 14"/>
          <p:cNvSpPr/>
          <p:nvPr>
            <p:custDataLst>
              <p:tags r:id="rId13"/>
            </p:custDataLst>
          </p:nvPr>
        </p:nvSpPr>
        <p:spPr>
          <a:xfrm>
            <a:off x="420370" y="4833239"/>
            <a:ext cx="237744" cy="237744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17" name="Text 15"/>
          <p:cNvSpPr/>
          <p:nvPr>
            <p:custDataLst>
              <p:tags r:id="rId14"/>
            </p:custDataLst>
          </p:nvPr>
        </p:nvSpPr>
        <p:spPr>
          <a:xfrm>
            <a:off x="420370" y="4833239"/>
            <a:ext cx="237744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000" dirty="0"/>
          </a:p>
        </p:txBody>
      </p:sp>
      <p:sp>
        <p:nvSpPr>
          <p:cNvPr id="18" name="Text 16"/>
          <p:cNvSpPr/>
          <p:nvPr>
            <p:custDataLst>
              <p:tags r:id="rId15"/>
            </p:custDataLst>
          </p:nvPr>
        </p:nvSpPr>
        <p:spPr>
          <a:xfrm>
            <a:off x="786130" y="4700397"/>
            <a:ext cx="4846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GB" sz="1600" dirty="0">
                <a:solidFill>
                  <a:srgbClr val="1B1B1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Computed the log2 fold change to identify genes that were upregulated or downregulated after treatment.</a:t>
            </a:r>
            <a:endParaRPr lang="en-US" altLang="en-GB" sz="1600" dirty="0">
              <a:solidFill>
                <a:srgbClr val="1B1B1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749415" y="1534795"/>
            <a:ext cx="5577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 responding genes (by |log2FC|)</a:t>
            </a:r>
            <a:endParaRPr lang="en-US" sz="1200" dirty="0"/>
          </a:p>
        </p:txBody>
      </p:sp>
      <p:sp>
        <p:nvSpPr>
          <p:cNvPr id="48" name="Text Box 47"/>
          <p:cNvSpPr txBox="1"/>
          <p:nvPr/>
        </p:nvSpPr>
        <p:spPr>
          <a:xfrm>
            <a:off x="420370" y="1197610"/>
            <a:ext cx="58445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1600"/>
              <a:t>R was used to prepare the expression and metadata for analysis.</a:t>
            </a:r>
            <a:endParaRPr lang="en-US" altLang="en-GB" sz="1600"/>
          </a:p>
        </p:txBody>
      </p:sp>
      <p:graphicFrame>
        <p:nvGraphicFramePr>
          <p:cNvPr id="52" name="Table 51"/>
          <p:cNvGraphicFramePr/>
          <p:nvPr>
            <p:custDataLst>
              <p:tags r:id="rId16"/>
            </p:custDataLst>
          </p:nvPr>
        </p:nvGraphicFramePr>
        <p:xfrm>
          <a:off x="5958205" y="2021205"/>
          <a:ext cx="2772410" cy="3665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6205"/>
                <a:gridCol w="1386205"/>
              </a:tblGrid>
              <a:tr h="610870">
                <a:tc gridSpan="2">
                  <a:txBody>
                    <a:bodyPr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  <a:sym typeface="+mn-ea"/>
                        </a:rPr>
                        <a:t>UP in treated</a:t>
                      </a:r>
                      <a:endParaRPr lang="en-GB" altLang="en-US"/>
                    </a:p>
                  </a:txBody>
                  <a:tcPr/>
                </a:tc>
                <a:tc hMerge="1">
                  <a:tcPr/>
                </a:tc>
              </a:tr>
              <a:tr h="6108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/>
                        <a:t>crp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 b="1" dirty="0">
                          <a:solidFill>
                            <a:srgbClr val="1C729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  <a:sym typeface="+mn-ea"/>
                        </a:rPr>
                        <a:t>+1.92</a:t>
                      </a:r>
                      <a:endParaRPr lang="en-GB" altLang="en-US"/>
                    </a:p>
                  </a:txBody>
                  <a:tcPr/>
                </a:tc>
              </a:tr>
              <a:tr h="6108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/>
                        <a:t>ompA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 b="1" dirty="0">
                          <a:solidFill>
                            <a:srgbClr val="1C729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  <a:sym typeface="+mn-ea"/>
                        </a:rPr>
                        <a:t>+1.64</a:t>
                      </a:r>
                      <a:endParaRPr lang="en-GB" altLang="en-US"/>
                    </a:p>
                  </a:txBody>
                  <a:tcPr/>
                </a:tc>
              </a:tr>
              <a:tr h="6108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/>
                        <a:t>rpoB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 b="1" dirty="0">
                          <a:solidFill>
                            <a:srgbClr val="1C729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  <a:sym typeface="+mn-ea"/>
                        </a:rPr>
                        <a:t>+1.62</a:t>
                      </a:r>
                      <a:endParaRPr lang="en-GB" altLang="en-US"/>
                    </a:p>
                  </a:txBody>
                  <a:tcPr/>
                </a:tc>
              </a:tr>
              <a:tr h="6108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/>
                        <a:t>lacZ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 b="1" dirty="0">
                          <a:solidFill>
                            <a:srgbClr val="1C729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  <a:sym typeface="+mn-ea"/>
                        </a:rPr>
                        <a:t>+0.89</a:t>
                      </a:r>
                      <a:endParaRPr lang="en-GB" altLang="en-US"/>
                    </a:p>
                  </a:txBody>
                  <a:tcPr/>
                </a:tc>
              </a:tr>
              <a:tr h="6108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/>
                        <a:t>recA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 b="1" dirty="0">
                          <a:solidFill>
                            <a:srgbClr val="1C729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  <a:sym typeface="+mn-ea"/>
                        </a:rPr>
                        <a:t>+0.88</a:t>
                      </a:r>
                      <a:endParaRPr lang="en-GB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3" name="Table 52"/>
          <p:cNvGraphicFramePr/>
          <p:nvPr>
            <p:custDataLst>
              <p:tags r:id="rId17"/>
            </p:custDataLst>
          </p:nvPr>
        </p:nvGraphicFramePr>
        <p:xfrm>
          <a:off x="8942070" y="2021205"/>
          <a:ext cx="2772410" cy="3665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6205"/>
                <a:gridCol w="1386205"/>
              </a:tblGrid>
              <a:tr h="610870">
                <a:tc gridSpan="2">
                  <a:txBody>
                    <a:bodyPr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  <a:sym typeface="+mn-ea"/>
                        </a:rPr>
                        <a:t>DOWN in treated</a:t>
                      </a:r>
                      <a:endParaRPr lang="en-GB" altLang="en-US"/>
                    </a:p>
                  </a:txBody>
                  <a:tcPr/>
                </a:tc>
                <a:tc hMerge="1">
                  <a:tcPr/>
                </a:tc>
              </a:tr>
              <a:tr h="6108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rgbClr val="0B254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  <a:sym typeface="+mn-ea"/>
                        </a:rPr>
                        <a:t>emrB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 b="1" dirty="0">
                          <a:solidFill>
                            <a:srgbClr val="F9616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  <a:sym typeface="+mn-ea"/>
                        </a:rPr>
                        <a:t>−2.29</a:t>
                      </a:r>
                      <a:endParaRPr lang="en-GB" altLang="en-US"/>
                    </a:p>
                  </a:txBody>
                  <a:tcPr/>
                </a:tc>
              </a:tr>
              <a:tr h="6108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/>
                        <a:t>dnaA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 b="1" dirty="0">
                          <a:solidFill>
                            <a:srgbClr val="F9616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  <a:sym typeface="+mn-ea"/>
                        </a:rPr>
                        <a:t>−1.75</a:t>
                      </a:r>
                      <a:endParaRPr lang="en-GB" altLang="en-US"/>
                    </a:p>
                  </a:txBody>
                  <a:tcPr/>
                </a:tc>
              </a:tr>
              <a:tr h="6108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/>
                        <a:t>tolC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 b="1" dirty="0">
                          <a:solidFill>
                            <a:srgbClr val="F9616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  <a:sym typeface="+mn-ea"/>
                        </a:rPr>
                        <a:t>−1.74</a:t>
                      </a:r>
                      <a:endParaRPr lang="en-GB" altLang="en-US"/>
                    </a:p>
                  </a:txBody>
                  <a:tcPr/>
                </a:tc>
              </a:tr>
              <a:tr h="6108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/>
                        <a:t>marA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 b="1" dirty="0">
                          <a:solidFill>
                            <a:srgbClr val="F9616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  <a:sym typeface="+mn-ea"/>
                        </a:rPr>
                        <a:t>−0.72</a:t>
                      </a:r>
                      <a:endParaRPr lang="en-GB" altLang="en-US"/>
                    </a:p>
                  </a:txBody>
                  <a:tcPr/>
                </a:tc>
              </a:tr>
              <a:tr h="6108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/>
                        <a:t>sodA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 b="1" dirty="0">
                          <a:solidFill>
                            <a:srgbClr val="F9616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  <a:sym typeface="+mn-ea"/>
                        </a:rPr>
                        <a:t>−0.65</a:t>
                      </a:r>
                      <a:endParaRPr lang="en-US" sz="1800" dirty="0"/>
                    </a:p>
                    <a:p>
                      <a:pPr algn="ctr">
                        <a:buNone/>
                      </a:pPr>
                      <a:endParaRPr lang="en-GB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Figures : Overall Spread &amp; Distribution</a:t>
            </a:r>
            <a:endParaRPr lang="en-US" sz="3000" dirty="0"/>
          </a:p>
        </p:txBody>
      </p:sp>
      <p:pic>
        <p:nvPicPr>
          <p:cNvPr id="3" name="Image 0" descr="/home/claude/pptx_project/images/boxplot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48640" y="1097280"/>
            <a:ext cx="5349240" cy="2834640"/>
          </a:xfrm>
          <a:prstGeom prst="rect">
            <a:avLst/>
          </a:prstGeom>
        </p:spPr>
      </p:pic>
      <p:pic>
        <p:nvPicPr>
          <p:cNvPr id="4" name="Image 1" descr="/home/claude/pptx_project/images/histogram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263640" y="1097280"/>
            <a:ext cx="5349240" cy="2834640"/>
          </a:xfrm>
          <a:prstGeom prst="rect">
            <a:avLst/>
          </a:prstGeom>
        </p:spPr>
      </p:pic>
      <p:sp>
        <p:nvSpPr>
          <p:cNvPr id="5" name="Text 1"/>
          <p:cNvSpPr/>
          <p:nvPr>
            <p:custDataLst>
              <p:tags r:id="rId5"/>
            </p:custDataLst>
          </p:nvPr>
        </p:nvSpPr>
        <p:spPr>
          <a:xfrm>
            <a:off x="548640" y="4147820"/>
            <a:ext cx="5349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Boxplot — expression by condition</a:t>
            </a:r>
            <a:endParaRPr lang="en-US" sz="2000" b="1" dirty="0">
              <a:solidFill>
                <a:srgbClr val="065A82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2"/>
          <p:cNvSpPr/>
          <p:nvPr>
            <p:custDataLst>
              <p:tags r:id="rId6"/>
            </p:custDataLst>
          </p:nvPr>
        </p:nvSpPr>
        <p:spPr>
          <a:xfrm>
            <a:off x="548640" y="4544695"/>
            <a:ext cx="534924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en-GB" sz="1500" dirty="0">
                <a:latin typeface="Times New Roman" panose="02020603050405020304" charset="0"/>
                <a:cs typeface="Times New Roman" panose="02020603050405020304" charset="0"/>
              </a:rPr>
              <a:t>Treated samples show a slightly higher median and a wider spread than control, meaning most genes stay steady while a subset responds strongly. Biologically, this points to the treatment switching specific genes on or off rather than shifting the whole genome equally.</a:t>
            </a:r>
            <a:endParaRPr lang="en-US" altLang="en-GB" sz="15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en-GB" sz="15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 3"/>
          <p:cNvSpPr/>
          <p:nvPr>
            <p:custDataLst>
              <p:tags r:id="rId7"/>
            </p:custDataLst>
          </p:nvPr>
        </p:nvSpPr>
        <p:spPr>
          <a:xfrm>
            <a:off x="6263640" y="4147820"/>
            <a:ext cx="5349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Histogram — log2 fold-change distribution</a:t>
            </a:r>
            <a:endParaRPr lang="en-US" sz="2000" b="1" dirty="0">
              <a:solidFill>
                <a:srgbClr val="065A82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" name="Text 4"/>
          <p:cNvSpPr/>
          <p:nvPr>
            <p:custDataLst>
              <p:tags r:id="rId8"/>
            </p:custDataLst>
          </p:nvPr>
        </p:nvSpPr>
        <p:spPr>
          <a:xfrm>
            <a:off x="6263640" y="4458335"/>
            <a:ext cx="534924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en-GB" sz="1500" dirty="0">
                <a:latin typeface="Times New Roman" panose="02020603050405020304" charset="0"/>
                <a:cs typeface="Times New Roman" panose="02020603050405020304" charset="0"/>
              </a:rPr>
              <a:t>Most genes cluster close to a log2FC of zero, meaning their expression barely changes after treatment. A small number of genes show strong  positive or negative fold-changes instead. Biologically, this is the signature of a targeted response rather than a global one — likely genes tied to stress response, adaptation, or metabolism rather than the whole transcriptome reacting at once.</a:t>
            </a:r>
            <a:endParaRPr lang="en-US" altLang="en-GB" sz="15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Figures : The Responders</a:t>
            </a:r>
            <a:endParaRPr lang="en-US" sz="3000" dirty="0"/>
          </a:p>
        </p:txBody>
      </p:sp>
      <p:pic>
        <p:nvPicPr>
          <p:cNvPr id="3" name="Image 0" descr="/home/claude/pptx_project/images/barplot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48640" y="1097280"/>
            <a:ext cx="5349240" cy="2834640"/>
          </a:xfrm>
          <a:prstGeom prst="rect">
            <a:avLst/>
          </a:prstGeom>
        </p:spPr>
      </p:pic>
      <p:pic>
        <p:nvPicPr>
          <p:cNvPr id="4" name="Image 1" descr="/home/claude/pptx_project/images/scatter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263640" y="1097280"/>
            <a:ext cx="5349240" cy="2834640"/>
          </a:xfrm>
          <a:prstGeom prst="rect">
            <a:avLst/>
          </a:prstGeom>
        </p:spPr>
      </p:pic>
      <p:sp>
        <p:nvSpPr>
          <p:cNvPr id="5" name="Text 1"/>
          <p:cNvSpPr/>
          <p:nvPr>
            <p:custDataLst>
              <p:tags r:id="rId5"/>
            </p:custDataLst>
          </p:nvPr>
        </p:nvSpPr>
        <p:spPr>
          <a:xfrm>
            <a:off x="548640" y="4023360"/>
            <a:ext cx="5349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Bar plot — all genes ranked by log2FC</a:t>
            </a:r>
            <a:endParaRPr lang="en-US" sz="2000" b="1" dirty="0">
              <a:solidFill>
                <a:srgbClr val="065A82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2"/>
          <p:cNvSpPr/>
          <p:nvPr>
            <p:custDataLst>
              <p:tags r:id="rId6"/>
            </p:custDataLst>
          </p:nvPr>
        </p:nvSpPr>
        <p:spPr>
          <a:xfrm>
            <a:off x="548640" y="4544695"/>
            <a:ext cx="534924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algn="l">
              <a:lnSpc>
                <a:spcPct val="120000"/>
              </a:lnSpc>
              <a:buClrTx/>
              <a:buSzTx/>
              <a:buFontTx/>
              <a:buNone/>
            </a:pPr>
            <a:r>
              <a:rPr lang="en-US" altLang="en-GB" sz="1500" dirty="0">
                <a:latin typeface="Times New Roman" panose="02020603050405020304" charset="0"/>
                <a:cs typeface="Times New Roman" panose="02020603050405020304" charset="0"/>
              </a:rPr>
              <a:t>crp, ompA, rpoB, lacZ, and recA are the strongest upregulated genes; emrB, dnaA, tolC, marA, and sodA are the strongest downregulated ones. These are the treatment's clearest responders — upregulated genes may support protective/regulatory pathways, downregulated ones may mark processes suppressed by treatment.</a:t>
            </a:r>
            <a:endParaRPr lang="en-US" altLang="en-GB" sz="15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en-GB" sz="15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 3"/>
          <p:cNvSpPr/>
          <p:nvPr>
            <p:custDataLst>
              <p:tags r:id="rId7"/>
            </p:custDataLst>
          </p:nvPr>
        </p:nvSpPr>
        <p:spPr>
          <a:xfrm>
            <a:off x="6263640" y="4023360"/>
            <a:ext cx="5349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Scatter — mean control vs. mean treated</a:t>
            </a:r>
            <a:endParaRPr lang="en-US" sz="2000" b="1" dirty="0">
              <a:solidFill>
                <a:srgbClr val="065A82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" name="Text 4"/>
          <p:cNvSpPr/>
          <p:nvPr>
            <p:custDataLst>
              <p:tags r:id="rId8"/>
            </p:custDataLst>
          </p:nvPr>
        </p:nvSpPr>
        <p:spPr>
          <a:xfrm>
            <a:off x="6263640" y="4343400"/>
            <a:ext cx="534924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algn="l">
              <a:lnSpc>
                <a:spcPct val="120000"/>
              </a:lnSpc>
              <a:buClrTx/>
              <a:buSzTx/>
              <a:buFontTx/>
              <a:buNone/>
            </a:pPr>
            <a:r>
              <a:rPr lang="en-US" altLang="en-GB" sz="1500" dirty="0">
                <a:latin typeface="Times New Roman" panose="02020603050405020304" charset="0"/>
                <a:cs typeface="Times New Roman" panose="02020603050405020304" charset="0"/>
              </a:rPr>
              <a:t>Most genes sit close to the y=x line, meaning treated and control expression are similar. A few genes (ompA, crp) sit well above it and others (emrB, tolC) sit well below it, visually confirming the up/down calls from the bar plot.</a:t>
            </a:r>
            <a:endParaRPr lang="en-US" altLang="en-GB" sz="15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the Data Suggests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6766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FBD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Biological read</a:t>
            </a:r>
            <a:endParaRPr lang="en-US" b="1" dirty="0">
              <a:solidFill>
                <a:srgbClr val="5FBDB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43230" y="1666875"/>
            <a:ext cx="6766560" cy="3108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E7EE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treatment produces a targeted transcriptional response, not a uniform shift — most genes show little to no change.</a:t>
            </a:r>
            <a:endParaRPr lang="en-US" sz="16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E7EE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consistent subset stands out clearly across every figure: crp, ompA, rpoB up; emrB, tolC, dnaA down.</a:t>
            </a:r>
            <a:endParaRPr lang="en-US" sz="16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E7EE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These are the strongest candidate genes for involvement in the cellular response to treatment.</a:t>
            </a:r>
            <a:endParaRPr lang="en-US" sz="1600" dirty="0">
              <a:solidFill>
                <a:srgbClr val="E7EEF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5166360"/>
            <a:ext cx="67665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680960" y="1143000"/>
            <a:ext cx="3931920" cy="4846320"/>
          </a:xfrm>
          <a:prstGeom prst="roundRect">
            <a:avLst>
              <a:gd name="adj" fmla="val 2326"/>
            </a:avLst>
          </a:prstGeom>
          <a:solidFill>
            <a:srgbClr val="12305C"/>
          </a:solidFill>
          <a:ln w="12700">
            <a:solidFill>
              <a:srgbClr val="2A4A7A"/>
            </a:solidFill>
            <a:prstDash val="solid"/>
          </a:ln>
        </p:spPr>
        <p:txBody>
          <a:bodyPr/>
          <a:p>
            <a:endParaRPr lang="en-GB" altLang="en-US"/>
          </a:p>
        </p:txBody>
      </p:sp>
      <p:sp>
        <p:nvSpPr>
          <p:cNvPr id="9" name="Text 7"/>
          <p:cNvSpPr/>
          <p:nvPr/>
        </p:nvSpPr>
        <p:spPr>
          <a:xfrm>
            <a:off x="7955280" y="1417320"/>
            <a:ext cx="3383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Reproduce it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955280" y="1920240"/>
            <a:ext cx="3383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bash scripts/set.sh</a:t>
            </a:r>
            <a:endParaRPr lang="en-US" sz="1400" dirty="0">
              <a:solidFill>
                <a:schemeClr val="accent5">
                  <a:lumMod val="20000"/>
                  <a:lumOff val="80000"/>
                </a:schemeClr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955280" y="2304288"/>
            <a:ext cx="3383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python scripts/parse.py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955280" y="2688336"/>
            <a:ext cx="3383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algn="l">
              <a:buClrTx/>
              <a:buSzTx/>
              <a:buFontTx/>
              <a:buNone/>
            </a:pPr>
            <a:r>
              <a:rPr lang="en-US" sz="14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Rscript scripts/analysis.R</a:t>
            </a:r>
            <a:endParaRPr lang="en-US" sz="1400" dirty="0">
              <a:solidFill>
                <a:schemeClr val="accent5">
                  <a:lumMod val="20000"/>
                  <a:lumOff val="80000"/>
                </a:schemeClr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955280" y="3072384"/>
            <a:ext cx="3383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algn="l">
              <a:buClrTx/>
              <a:buSzTx/>
              <a:buFontTx/>
              <a:buNone/>
            </a:pPr>
            <a:r>
              <a:rPr lang="en-US" sz="14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→ figures/*.png + results/*.csv</a:t>
            </a:r>
            <a:endParaRPr lang="en-US" sz="1400" dirty="0">
              <a:solidFill>
                <a:schemeClr val="accent5">
                  <a:lumMod val="20000"/>
                  <a:lumOff val="80000"/>
                </a:schemeClr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955280" y="4775835"/>
            <a:ext cx="33832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8FA3C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pipeline, scripts, and README are in the project repository.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955280" y="5394960"/>
            <a:ext cx="33832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 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C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000" dirty="0"/>
          </a:p>
        </p:txBody>
      </p:sp>
      <p:sp>
        <p:nvSpPr>
          <p:cNvPr id="18" name="Text Box 17"/>
          <p:cNvSpPr txBox="1"/>
          <p:nvPr/>
        </p:nvSpPr>
        <p:spPr>
          <a:xfrm>
            <a:off x="7857490" y="3648075"/>
            <a:ext cx="37553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en-GB" sz="1600" i="1">
                <a:solidFill>
                  <a:schemeClr val="bg1"/>
                </a:solidFill>
                <a:cs typeface="+mn-lt"/>
              </a:rPr>
              <a:t>Note: </a:t>
            </a:r>
            <a:r>
              <a:rPr lang="en-US" sz="1200" i="1" dirty="0">
                <a:solidFill>
                  <a:schemeClr val="accent5">
                    <a:lumMod val="20000"/>
                    <a:lumOff val="80000"/>
                  </a:schemeClr>
                </a:solidFill>
                <a:ea typeface="Courier New" panose="02070309020205020404" pitchFamily="34" charset="-122"/>
                <a:cs typeface="+mn-lt"/>
              </a:rPr>
              <a:t>Modify the file paths in `set.sh`, `parse.py`, and `analysis.R` to match your own directory structure before running the workflow.</a:t>
            </a:r>
            <a:endParaRPr lang="en-US" sz="1200" i="1" dirty="0">
              <a:solidFill>
                <a:schemeClr val="accent5">
                  <a:lumMod val="20000"/>
                  <a:lumOff val="80000"/>
                </a:schemeClr>
              </a:solidFill>
              <a:ea typeface="Courier New" panose="02070309020205020404" pitchFamily="34" charset="-122"/>
              <a:cs typeface="+mn-lt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79.35,&quot;left&quot;:486,&quot;top&quot;:71.55,&quot;width&quot;:436.35}"/>
</p:tagLst>
</file>

<file path=ppt/tags/tag2.xml><?xml version="1.0" encoding="utf-8"?>
<p:tagLst xmlns:p="http://schemas.openxmlformats.org/presentationml/2006/main">
  <p:tag name="KSO_WM_DIAGRAM_VIRTUALLY_FRAME" val="{&quot;height&quot;:379.35,&quot;left&quot;:486,&quot;top&quot;:71.55,&quot;width&quot;:436.35}"/>
</p:tagLst>
</file>

<file path=ppt/tags/tag3.xml><?xml version="1.0" encoding="utf-8"?>
<p:tagLst xmlns:p="http://schemas.openxmlformats.org/presentationml/2006/main">
  <p:tag name="KSO_WM_DIAGRAM_VIRTUALLY_FRAME" val="{&quot;height&quot;:379.35,&quot;left&quot;:486,&quot;top&quot;:71.55,&quot;width&quot;:436.35}"/>
</p:tagLst>
</file>

<file path=ppt/tags/tag4.xml><?xml version="1.0" encoding="utf-8"?>
<p:tagLst xmlns:p="http://schemas.openxmlformats.org/presentationml/2006/main">
  <p:tag name="KSO_WM_DIAGRAM_VIRTUALLY_FRAME" val="{&quot;height&quot;:379.35,&quot;left&quot;:486,&quot;top&quot;:71.55,&quot;width&quot;:436.35}"/>
</p:tagLst>
</file>

<file path=ppt/tags/tag5.xml><?xml version="1.0" encoding="utf-8"?>
<p:tagLst xmlns:p="http://schemas.openxmlformats.org/presentationml/2006/main">
  <p:tag name="KSO_WM_DIAGRAM_VIRTUALLY_FRAME" val="{&quot;height&quot;:379.35,&quot;left&quot;:486,&quot;top&quot;:71.55,&quot;width&quot;:436.35}"/>
</p:tagLst>
</file>

<file path=ppt/tags/tag6.xml><?xml version="1.0" encoding="utf-8"?>
<p:tagLst xmlns:p="http://schemas.openxmlformats.org/presentationml/2006/main">
  <p:tag name="KSO_WM_DIAGRAM_VIRTUALLY_FRAME" val="{&quot;height&quot;:379.35,&quot;left&quot;:486,&quot;top&quot;:71.55,&quot;width&quot;:436.35}"/>
</p:tagLst>
</file>

<file path=ppt/tags/tag7.xml><?xml version="1.0" encoding="utf-8"?>
<p:tagLst xmlns:p="http://schemas.openxmlformats.org/presentationml/2006/main">
  <p:tag name="KSO_WM_DIAGRAM_VIRTUALLY_FRAME" val="{&quot;height&quot;:379.35,&quot;left&quot;:486,&quot;top&quot;:71.55,&quot;width&quot;:436.35}"/>
</p:tagLst>
</file>

<file path=ppt/tags/tag8.xml><?xml version="1.0" encoding="utf-8"?>
<p:tagLst xmlns:p="http://schemas.openxmlformats.org/presentationml/2006/main">
  <p:tag name="KSO_WM_DIAGRAM_VIRTUALLY_FRAME" val="{&quot;height&quot;:379.35,&quot;left&quot;:486,&quot;top&quot;:71.55,&quot;width&quot;:436.35}"/>
</p:tagLst>
</file>

<file path=ppt/tags/tag9.xml><?xml version="1.0" encoding="utf-8"?>
<p:tagLst xmlns:p="http://schemas.openxmlformats.org/presentationml/2006/main">
  <p:tag name="KSO_WM_DIAGRAM_VIRTUALLY_FRAME" val="{&quot;height&quot;:379.35,&quot;left&quot;:486,&quot;top&quot;:71.55,&quot;width&quot;:436.35}"/>
</p:tagLst>
</file>

<file path=ppt/tags/tag10.xml><?xml version="1.0" encoding="utf-8"?>
<p:tagLst xmlns:p="http://schemas.openxmlformats.org/presentationml/2006/main">
  <p:tag name="KSO_WM_DIAGRAM_VIRTUALLY_FRAME" val="{&quot;height&quot;:379.35,&quot;left&quot;:486,&quot;top&quot;:71.55,&quot;width&quot;:436.35}"/>
</p:tagLst>
</file>

<file path=ppt/tags/tag11.xml><?xml version="1.0" encoding="utf-8"?>
<p:tagLst xmlns:p="http://schemas.openxmlformats.org/presentationml/2006/main">
  <p:tag name="KSO_WM_DIAGRAM_VIRTUALLY_FRAME" val="{&quot;height&quot;:379.35,&quot;left&quot;:486,&quot;top&quot;:71.55,&quot;width&quot;:436.35}"/>
</p:tagLst>
</file>

<file path=ppt/tags/tag12.xml><?xml version="1.0" encoding="utf-8"?>
<p:tagLst xmlns:p="http://schemas.openxmlformats.org/presentationml/2006/main">
  <p:tag name="KSO_WM_DIAGRAM_VIRTUALLY_FRAME" val="{&quot;height&quot;:379.35,&quot;left&quot;:486,&quot;top&quot;:71.55,&quot;width&quot;:436.35}"/>
</p:tagLst>
</file>

<file path=ppt/tags/tag13.xml><?xml version="1.0" encoding="utf-8"?>
<p:tagLst xmlns:p="http://schemas.openxmlformats.org/presentationml/2006/main">
  <p:tag name="KSO_WM_DIAGRAM_VIRTUALLY_FRAME" val="{&quot;height&quot;:379.35,&quot;left&quot;:486,&quot;top&quot;:71.55,&quot;width&quot;:436.35}"/>
</p:tagLst>
</file>

<file path=ppt/tags/tag14.xml><?xml version="1.0" encoding="utf-8"?>
<p:tagLst xmlns:p="http://schemas.openxmlformats.org/presentationml/2006/main">
  <p:tag name="KSO_WM_DIAGRAM_VIRTUALLY_FRAME" val="{&quot;height&quot;:379.35,&quot;left&quot;:486,&quot;top&quot;:71.55,&quot;width&quot;:436.35}"/>
</p:tagLst>
</file>

<file path=ppt/tags/tag15.xml><?xml version="1.0" encoding="utf-8"?>
<p:tagLst xmlns:p="http://schemas.openxmlformats.org/presentationml/2006/main">
  <p:tag name="KSO_WM_DIAGRAM_VIRTUALLY_FRAME" val="{&quot;height&quot;:379.35,&quot;left&quot;:486,&quot;top&quot;:71.55,&quot;width&quot;:436.35}"/>
</p:tagLst>
</file>

<file path=ppt/tags/tag16.xml><?xml version="1.0" encoding="utf-8"?>
<p:tagLst xmlns:p="http://schemas.openxmlformats.org/presentationml/2006/main">
  <p:tag name="KSO_WM_DIAGRAM_VIRTUALLY_FRAME" val="{&quot;height&quot;:379.35,&quot;left&quot;:486,&quot;top&quot;:71.55,&quot;width&quot;:436.35}"/>
</p:tagLst>
</file>

<file path=ppt/tags/tag17.xml><?xml version="1.0" encoding="utf-8"?>
<p:tagLst xmlns:p="http://schemas.openxmlformats.org/presentationml/2006/main">
  <p:tag name="KSO_WM_DIAGRAM_VIRTUALLY_FRAME" val="{&quot;height&quot;:379.35,&quot;left&quot;:486,&quot;top&quot;:71.55,&quot;width&quot;:436.35}"/>
</p:tagLst>
</file>

<file path=ppt/tags/tag18.xml><?xml version="1.0" encoding="utf-8"?>
<p:tagLst xmlns:p="http://schemas.openxmlformats.org/presentationml/2006/main">
  <p:tag name="KSO_WM_DIAGRAM_VIRTUALLY_FRAME" val="{&quot;height&quot;:379.35,&quot;left&quot;:486,&quot;top&quot;:71.55,&quot;width&quot;:436.35}"/>
</p:tagLst>
</file>

<file path=ppt/tags/tag19.xml><?xml version="1.0" encoding="utf-8"?>
<p:tagLst xmlns:p="http://schemas.openxmlformats.org/presentationml/2006/main">
  <p:tag name="KSO_WM_DIAGRAM_VIRTUALLY_FRAME" val="{&quot;height&quot;:379.35,&quot;left&quot;:486,&quot;top&quot;:71.55,&quot;width&quot;:436.35}"/>
</p:tagLst>
</file>

<file path=ppt/tags/tag20.xml><?xml version="1.0" encoding="utf-8"?>
<p:tagLst xmlns:p="http://schemas.openxmlformats.org/presentationml/2006/main">
  <p:tag name="KSO_WM_DIAGRAM_VIRTUALLY_FRAME" val="{&quot;height&quot;:297.85,&quot;left&quot;:43.2,&quot;top&quot;:154.8,&quot;width&quot;:889.2}"/>
</p:tagLst>
</file>

<file path=ppt/tags/tag21.xml><?xml version="1.0" encoding="utf-8"?>
<p:tagLst xmlns:p="http://schemas.openxmlformats.org/presentationml/2006/main">
  <p:tag name="KSO_WM_DIAGRAM_VIRTUALLY_FRAME" val="{&quot;height&quot;:297.85,&quot;left&quot;:43.2,&quot;top&quot;:154.8,&quot;width&quot;:889.2}"/>
</p:tagLst>
</file>

<file path=ppt/tags/tag22.xml><?xml version="1.0" encoding="utf-8"?>
<p:tagLst xmlns:p="http://schemas.openxmlformats.org/presentationml/2006/main">
  <p:tag name="KSO_WM_DIAGRAM_VIRTUALLY_FRAME" val="{&quot;height&quot;:337.45,&quot;left&quot;:36.9,&quot;top&quot;:154.8,&quot;width&quot;:895.5}"/>
</p:tagLst>
</file>

<file path=ppt/tags/tag23.xml><?xml version="1.0" encoding="utf-8"?>
<p:tagLst xmlns:p="http://schemas.openxmlformats.org/presentationml/2006/main">
  <p:tag name="KSO_WM_DIAGRAM_VIRTUALLY_FRAME" val="{&quot;height&quot;:337.45,&quot;left&quot;:36.9,&quot;top&quot;:154.8,&quot;width&quot;:895.5}"/>
</p:tagLst>
</file>

<file path=ppt/tags/tag24.xml><?xml version="1.0" encoding="utf-8"?>
<p:tagLst xmlns:p="http://schemas.openxmlformats.org/presentationml/2006/main">
  <p:tag name="KSO_WM_DIAGRAM_VIRTUALLY_FRAME" val="{&quot;height&quot;:337.45,&quot;left&quot;:36.9,&quot;top&quot;:154.8,&quot;width&quot;:895.5}"/>
</p:tagLst>
</file>

<file path=ppt/tags/tag25.xml><?xml version="1.0" encoding="utf-8"?>
<p:tagLst xmlns:p="http://schemas.openxmlformats.org/presentationml/2006/main">
  <p:tag name="KSO_WM_DIAGRAM_VIRTUALLY_FRAME" val="{&quot;height&quot;:337.45,&quot;left&quot;:36.9,&quot;top&quot;:154.8,&quot;width&quot;:895.5}"/>
</p:tagLst>
</file>

<file path=ppt/tags/tag26.xml><?xml version="1.0" encoding="utf-8"?>
<p:tagLst xmlns:p="http://schemas.openxmlformats.org/presentationml/2006/main">
  <p:tag name="KSO_WM_DIAGRAM_VIRTUALLY_FRAME" val="{&quot;height&quot;:337.45,&quot;left&quot;:36.9,&quot;top&quot;:154.8,&quot;width&quot;:895.5}"/>
</p:tagLst>
</file>

<file path=ppt/tags/tag27.xml><?xml version="1.0" encoding="utf-8"?>
<p:tagLst xmlns:p="http://schemas.openxmlformats.org/presentationml/2006/main">
  <p:tag name="KSO_WM_DIAGRAM_VIRTUALLY_FRAME" val="{&quot;height&quot;:337.45,&quot;left&quot;:36.9,&quot;top&quot;:154.8,&quot;width&quot;:895.5}"/>
</p:tagLst>
</file>

<file path=ppt/tags/tag28.xml><?xml version="1.0" encoding="utf-8"?>
<p:tagLst xmlns:p="http://schemas.openxmlformats.org/presentationml/2006/main">
  <p:tag name="KSO_WM_DIAGRAM_VIRTUALLY_FRAME" val="{&quot;height&quot;:337.45,&quot;left&quot;:36.9,&quot;top&quot;:154.8,&quot;width&quot;:895.5}"/>
</p:tagLst>
</file>

<file path=ppt/tags/tag29.xml><?xml version="1.0" encoding="utf-8"?>
<p:tagLst xmlns:p="http://schemas.openxmlformats.org/presentationml/2006/main">
  <p:tag name="KSO_WM_DIAGRAM_VIRTUALLY_FRAME" val="{&quot;height&quot;:337.45,&quot;left&quot;:36.9,&quot;top&quot;:154.8,&quot;width&quot;:895.5}"/>
</p:tagLst>
</file>

<file path=ppt/tags/tag30.xml><?xml version="1.0" encoding="utf-8"?>
<p:tagLst xmlns:p="http://schemas.openxmlformats.org/presentationml/2006/main">
  <p:tag name="KSO_WM_DIAGRAM_VIRTUALLY_FRAME" val="{&quot;height&quot;:337.45,&quot;left&quot;:36.9,&quot;top&quot;:154.8,&quot;width&quot;:895.5}"/>
</p:tagLst>
</file>

<file path=ppt/tags/tag31.xml><?xml version="1.0" encoding="utf-8"?>
<p:tagLst xmlns:p="http://schemas.openxmlformats.org/presentationml/2006/main">
  <p:tag name="KSO_WM_DIAGRAM_VIRTUALLY_FRAME" val="{&quot;height&quot;:337.45,&quot;left&quot;:36.9,&quot;top&quot;:154.8,&quot;width&quot;:895.5}"/>
</p:tagLst>
</file>

<file path=ppt/tags/tag32.xml><?xml version="1.0" encoding="utf-8"?>
<p:tagLst xmlns:p="http://schemas.openxmlformats.org/presentationml/2006/main">
  <p:tag name="KSO_WM_DIAGRAM_VIRTUALLY_FRAME" val="{&quot;height&quot;:337.45,&quot;left&quot;:36.9,&quot;top&quot;:154.8,&quot;width&quot;:895.5}"/>
</p:tagLst>
</file>

<file path=ppt/tags/tag33.xml><?xml version="1.0" encoding="utf-8"?>
<p:tagLst xmlns:p="http://schemas.openxmlformats.org/presentationml/2006/main">
  <p:tag name="KSO_WM_DIAGRAM_VIRTUALLY_FRAME" val="{&quot;height&quot;:337.45,&quot;left&quot;:36.9,&quot;top&quot;:154.8,&quot;width&quot;:895.5}"/>
</p:tagLst>
</file>

<file path=ppt/tags/tag34.xml><?xml version="1.0" encoding="utf-8"?>
<p:tagLst xmlns:p="http://schemas.openxmlformats.org/presentationml/2006/main">
  <p:tag name="KSO_WM_DIAGRAM_VIRTUALLY_FRAME" val="{&quot;height&quot;:337.45,&quot;left&quot;:36.9,&quot;top&quot;:154.8,&quot;width&quot;:895.5}"/>
</p:tagLst>
</file>

<file path=ppt/tags/tag35.xml><?xml version="1.0" encoding="utf-8"?>
<p:tagLst xmlns:p="http://schemas.openxmlformats.org/presentationml/2006/main">
  <p:tag name="KSO_WM_DIAGRAM_VIRTUALLY_FRAME" val="{&quot;height&quot;:337.45,&quot;left&quot;:36.9,&quot;top&quot;:154.8,&quot;width&quot;:895.5}"/>
</p:tagLst>
</file>

<file path=ppt/tags/tag36.xml><?xml version="1.0" encoding="utf-8"?>
<p:tagLst xmlns:p="http://schemas.openxmlformats.org/presentationml/2006/main">
  <p:tag name="KSO_WM_DIAGRAM_VIRTUALLY_FRAME" val="{&quot;height&quot;:337.45,&quot;left&quot;:36.9,&quot;top&quot;:154.8,&quot;width&quot;:895.5}"/>
</p:tagLst>
</file>

<file path=ppt/tags/tag37.xml><?xml version="1.0" encoding="utf-8"?>
<p:tagLst xmlns:p="http://schemas.openxmlformats.org/presentationml/2006/main">
  <p:tag name="KSO_WM_DIAGRAM_VIRTUALLY_FRAME" val="{&quot;height&quot;:337.45,&quot;left&quot;:36.9,&quot;top&quot;:154.8,&quot;width&quot;:895.5}"/>
</p:tagLst>
</file>

<file path=ppt/tags/tag38.xml><?xml version="1.0" encoding="utf-8"?>
<p:tagLst xmlns:p="http://schemas.openxmlformats.org/presentationml/2006/main">
  <p:tag name="KSO_WM_DIAGRAM_VIRTUALLY_FRAME" val="{&quot;height&quot;:218.16000000000003,&quot;left&quot;:33.1,&quot;top&quot;:191.55,&quot;width&quot;:459.75}"/>
</p:tagLst>
</file>

<file path=ppt/tags/tag39.xml><?xml version="1.0" encoding="utf-8"?>
<p:tagLst xmlns:p="http://schemas.openxmlformats.org/presentationml/2006/main">
  <p:tag name="KSO_WM_DIAGRAM_VIRTUALLY_FRAME" val="{&quot;height&quot;:218.16000000000003,&quot;left&quot;:33.1,&quot;top&quot;:191.55,&quot;width&quot;:459.75}"/>
</p:tagLst>
</file>

<file path=ppt/tags/tag40.xml><?xml version="1.0" encoding="utf-8"?>
<p:tagLst xmlns:p="http://schemas.openxmlformats.org/presentationml/2006/main">
  <p:tag name="KSO_WM_DIAGRAM_VIRTUALLY_FRAME" val="{&quot;height&quot;:218.16000000000003,&quot;left&quot;:33.1,&quot;top&quot;:191.55,&quot;width&quot;:459.75}"/>
</p:tagLst>
</file>

<file path=ppt/tags/tag41.xml><?xml version="1.0" encoding="utf-8"?>
<p:tagLst xmlns:p="http://schemas.openxmlformats.org/presentationml/2006/main">
  <p:tag name="KSO_WM_DIAGRAM_VIRTUALLY_FRAME" val="{&quot;height&quot;:218.16000000000003,&quot;left&quot;:33.1,&quot;top&quot;:191.55,&quot;width&quot;:459.75}"/>
</p:tagLst>
</file>

<file path=ppt/tags/tag42.xml><?xml version="1.0" encoding="utf-8"?>
<p:tagLst xmlns:p="http://schemas.openxmlformats.org/presentationml/2006/main">
  <p:tag name="KSO_WM_DIAGRAM_VIRTUALLY_FRAME" val="{&quot;height&quot;:218.16000000000003,&quot;left&quot;:33.1,&quot;top&quot;:191.55,&quot;width&quot;:459.75}"/>
</p:tagLst>
</file>

<file path=ppt/tags/tag43.xml><?xml version="1.0" encoding="utf-8"?>
<p:tagLst xmlns:p="http://schemas.openxmlformats.org/presentationml/2006/main">
  <p:tag name="KSO_WM_DIAGRAM_VIRTUALLY_FRAME" val="{&quot;height&quot;:218.16000000000003,&quot;left&quot;:33.1,&quot;top&quot;:191.55,&quot;width&quot;:459.75}"/>
</p:tagLst>
</file>

<file path=ppt/tags/tag44.xml><?xml version="1.0" encoding="utf-8"?>
<p:tagLst xmlns:p="http://schemas.openxmlformats.org/presentationml/2006/main">
  <p:tag name="KSO_WM_DIAGRAM_VIRTUALLY_FRAME" val="{&quot;height&quot;:218.16000000000003,&quot;left&quot;:33.1,&quot;top&quot;:191.55,&quot;width&quot;:459.75}"/>
</p:tagLst>
</file>

<file path=ppt/tags/tag45.xml><?xml version="1.0" encoding="utf-8"?>
<p:tagLst xmlns:p="http://schemas.openxmlformats.org/presentationml/2006/main">
  <p:tag name="KSO_WM_DIAGRAM_VIRTUALLY_FRAME" val="{&quot;height&quot;:218.16000000000003,&quot;left&quot;:33.1,&quot;top&quot;:191.55,&quot;width&quot;:459.75}"/>
</p:tagLst>
</file>

<file path=ppt/tags/tag46.xml><?xml version="1.0" encoding="utf-8"?>
<p:tagLst xmlns:p="http://schemas.openxmlformats.org/presentationml/2006/main">
  <p:tag name="KSO_WM_DIAGRAM_VIRTUALLY_FRAME" val="{&quot;height&quot;:218.16000000000003,&quot;left&quot;:33.1,&quot;top&quot;:191.55,&quot;width&quot;:459.75}"/>
</p:tagLst>
</file>

<file path=ppt/tags/tag47.xml><?xml version="1.0" encoding="utf-8"?>
<p:tagLst xmlns:p="http://schemas.openxmlformats.org/presentationml/2006/main">
  <p:tag name="KSO_WM_DIAGRAM_VIRTUALLY_FRAME" val="{&quot;height&quot;:218.16000000000003,&quot;left&quot;:33.1,&quot;top&quot;:191.55,&quot;width&quot;:459.75}"/>
</p:tagLst>
</file>

<file path=ppt/tags/tag48.xml><?xml version="1.0" encoding="utf-8"?>
<p:tagLst xmlns:p="http://schemas.openxmlformats.org/presentationml/2006/main">
  <p:tag name="KSO_WM_DIAGRAM_VIRTUALLY_FRAME" val="{&quot;height&quot;:218.16000000000003,&quot;left&quot;:33.1,&quot;top&quot;:191.55,&quot;width&quot;:459.75}"/>
</p:tagLst>
</file>

<file path=ppt/tags/tag49.xml><?xml version="1.0" encoding="utf-8"?>
<p:tagLst xmlns:p="http://schemas.openxmlformats.org/presentationml/2006/main">
  <p:tag name="KSO_WM_DIAGRAM_VIRTUALLY_FRAME" val="{&quot;height&quot;:218.16000000000003,&quot;left&quot;:33.1,&quot;top&quot;:191.55,&quot;width&quot;:459.75}"/>
</p:tagLst>
</file>

<file path=ppt/tags/tag50.xml><?xml version="1.0" encoding="utf-8"?>
<p:tagLst xmlns:p="http://schemas.openxmlformats.org/presentationml/2006/main">
  <p:tag name="KSO_WM_DIAGRAM_VIRTUALLY_FRAME" val="{&quot;height&quot;:218.16000000000003,&quot;left&quot;:33.1,&quot;top&quot;:191.55,&quot;width&quot;:459.75}"/>
</p:tagLst>
</file>

<file path=ppt/tags/tag51.xml><?xml version="1.0" encoding="utf-8"?>
<p:tagLst xmlns:p="http://schemas.openxmlformats.org/presentationml/2006/main">
  <p:tag name="KSO_WM_DIAGRAM_VIRTUALLY_FRAME" val="{&quot;height&quot;:218.16000000000003,&quot;left&quot;:33.1,&quot;top&quot;:191.55,&quot;width&quot;:459.75}"/>
</p:tagLst>
</file>

<file path=ppt/tags/tag52.xml><?xml version="1.0" encoding="utf-8"?>
<p:tagLst xmlns:p="http://schemas.openxmlformats.org/presentationml/2006/main">
  <p:tag name="KSO_WM_DIAGRAM_VIRTUALLY_FRAME" val="{&quot;height&quot;:218.16000000000003,&quot;left&quot;:33.1,&quot;top&quot;:191.55,&quot;width&quot;:459.75}"/>
</p:tagLst>
</file>

<file path=ppt/tags/tag53.xml><?xml version="1.0" encoding="utf-8"?>
<p:tagLst xmlns:p="http://schemas.openxmlformats.org/presentationml/2006/main">
  <p:tag name="TABLE_ENDDRAG_ORIGIN_RECT" val="218*288"/>
  <p:tag name="TABLE_ENDDRAG_RECT" val="469*122*218*288"/>
</p:tagLst>
</file>

<file path=ppt/tags/tag54.xml><?xml version="1.0" encoding="utf-8"?>
<p:tagLst xmlns:p="http://schemas.openxmlformats.org/presentationml/2006/main">
  <p:tag name="TABLE_ENDDRAG_ORIGIN_RECT" val="218*288"/>
  <p:tag name="TABLE_ENDDRAG_RECT" val="469*122*218*288"/>
</p:tagLst>
</file>

<file path=ppt/tags/tag55.xml><?xml version="1.0" encoding="utf-8"?>
<p:tagLst xmlns:p="http://schemas.openxmlformats.org/presentationml/2006/main">
  <p:tag name="KSO_WM_DIAGRAM_VIRTUALLY_FRAME" val="{&quot;height&quot;:392.4,&quot;left&quot;:43.2,&quot;top&quot;:86.4,&quot;width&quot;:871.2}"/>
</p:tagLst>
</file>

<file path=ppt/tags/tag56.xml><?xml version="1.0" encoding="utf-8"?>
<p:tagLst xmlns:p="http://schemas.openxmlformats.org/presentationml/2006/main">
  <p:tag name="KSO_WM_DIAGRAM_VIRTUALLY_FRAME" val="{&quot;height&quot;:392.4,&quot;left&quot;:43.2,&quot;top&quot;:86.4,&quot;width&quot;:871.2}"/>
</p:tagLst>
</file>

<file path=ppt/tags/tag57.xml><?xml version="1.0" encoding="utf-8"?>
<p:tagLst xmlns:p="http://schemas.openxmlformats.org/presentationml/2006/main">
  <p:tag name="KSO_WM_DIAGRAM_VIRTUALLY_FRAME" val="{&quot;height&quot;:392.4,&quot;left&quot;:43.2,&quot;top&quot;:86.4,&quot;width&quot;:871.2}"/>
</p:tagLst>
</file>

<file path=ppt/tags/tag58.xml><?xml version="1.0" encoding="utf-8"?>
<p:tagLst xmlns:p="http://schemas.openxmlformats.org/presentationml/2006/main">
  <p:tag name="KSO_WM_DIAGRAM_VIRTUALLY_FRAME" val="{&quot;height&quot;:392.4,&quot;left&quot;:43.2,&quot;top&quot;:86.4,&quot;width&quot;:871.2}"/>
</p:tagLst>
</file>

<file path=ppt/tags/tag59.xml><?xml version="1.0" encoding="utf-8"?>
<p:tagLst xmlns:p="http://schemas.openxmlformats.org/presentationml/2006/main">
  <p:tag name="KSO_WM_DIAGRAM_VIRTUALLY_FRAME" val="{&quot;height&quot;:392.4,&quot;left&quot;:43.2,&quot;top&quot;:86.4,&quot;width&quot;:871.2}"/>
</p:tagLst>
</file>

<file path=ppt/tags/tag60.xml><?xml version="1.0" encoding="utf-8"?>
<p:tagLst xmlns:p="http://schemas.openxmlformats.org/presentationml/2006/main">
  <p:tag name="KSO_WM_DIAGRAM_VIRTUALLY_FRAME" val="{&quot;height&quot;:392.4,&quot;left&quot;:43.2,&quot;top&quot;:86.4,&quot;width&quot;:871.2}"/>
</p:tagLst>
</file>

<file path=ppt/tags/tag61.xml><?xml version="1.0" encoding="utf-8"?>
<p:tagLst xmlns:p="http://schemas.openxmlformats.org/presentationml/2006/main">
  <p:tag name="KSO_WM_DIAGRAM_VIRTUALLY_FRAME" val="{&quot;height&quot;:392.4,&quot;left&quot;:43.2,&quot;top&quot;:86.4,&quot;width&quot;:871.2}"/>
</p:tagLst>
</file>

<file path=ppt/tags/tag62.xml><?xml version="1.0" encoding="utf-8"?>
<p:tagLst xmlns:p="http://schemas.openxmlformats.org/presentationml/2006/main">
  <p:tag name="KSO_WM_DIAGRAM_VIRTUALLY_FRAME" val="{&quot;height&quot;:392.4,&quot;left&quot;:43.2,&quot;top&quot;:86.4,&quot;width&quot;:871.2}"/>
</p:tagLst>
</file>

<file path=ppt/tags/tag63.xml><?xml version="1.0" encoding="utf-8"?>
<p:tagLst xmlns:p="http://schemas.openxmlformats.org/presentationml/2006/main">
  <p:tag name="KSO_WM_DIAGRAM_VIRTUALLY_FRAME" val="{&quot;height&quot;:392.4,&quot;left&quot;:43.2,&quot;top&quot;:86.4,&quot;width&quot;:871.2}"/>
</p:tagLst>
</file>

<file path=ppt/tags/tag64.xml><?xml version="1.0" encoding="utf-8"?>
<p:tagLst xmlns:p="http://schemas.openxmlformats.org/presentationml/2006/main">
  <p:tag name="KSO_WM_DIAGRAM_VIRTUALLY_FRAME" val="{&quot;height&quot;:392.4,&quot;left&quot;:43.2,&quot;top&quot;:86.4,&quot;width&quot;:871.2}"/>
</p:tagLst>
</file>

<file path=ppt/tags/tag65.xml><?xml version="1.0" encoding="utf-8"?>
<p:tagLst xmlns:p="http://schemas.openxmlformats.org/presentationml/2006/main">
  <p:tag name="KSO_WM_DIAGRAM_VIRTUALLY_FRAME" val="{&quot;height&quot;:392.4,&quot;left&quot;:43.2,&quot;top&quot;:86.4,&quot;width&quot;:871.2}"/>
</p:tagLst>
</file>

<file path=ppt/tags/tag66.xml><?xml version="1.0" encoding="utf-8"?>
<p:tagLst xmlns:p="http://schemas.openxmlformats.org/presentationml/2006/main">
  <p:tag name="KSO_WM_DIAGRAM_VIRTUALLY_FRAME" val="{&quot;height&quot;:392.4,&quot;left&quot;:43.2,&quot;top&quot;:86.4,&quot;width&quot;:871.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5059</Words>
  <Application>WPS Presentation</Application>
  <PresentationFormat>On-screen Show (16:9)</PresentationFormat>
  <Paragraphs>233</Paragraphs>
  <Slides>8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28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Courier New</vt:lpstr>
      <vt:lpstr>Courier New</vt:lpstr>
      <vt:lpstr>Courier New</vt:lpstr>
      <vt:lpstr>Microsoft YaHei</vt:lpstr>
      <vt:lpstr>Arial Unicode MS</vt:lpstr>
      <vt:lpstr>Times New Roman</vt:lpstr>
      <vt:lpstr>Leelawadee UI Semilight</vt:lpstr>
      <vt:lpstr>Arial Black</vt:lpstr>
      <vt:lpstr>HoloLens MDL2 Assets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PMYLS</cp:lastModifiedBy>
  <cp:revision>9</cp:revision>
  <dcterms:created xsi:type="dcterms:W3CDTF">2026-08-06T09:52:00Z</dcterms:created>
  <dcterms:modified xsi:type="dcterms:W3CDTF">2026-08-06T12:31:01Z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C3318BCA1CAC45869F1F87933E044D6A_12</vt:lpwstr>
  </property>
  <property fmtid="{D5CDD505-2E9C-101B-9397-08002B2CF9AE}" pid="3" name="KSOProductBuildVer">
    <vt:lpwstr>2057-12.2.0.23206</vt:lpwstr>
  </property>
</Properties>
</file>